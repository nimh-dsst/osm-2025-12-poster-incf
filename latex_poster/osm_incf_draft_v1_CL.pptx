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42803750" cx="30275200"/>
  <p:notesSz cx="6858000" cy="9144000"/>
  <p:embeddedFontLst>
    <p:embeddedFont>
      <p:font typeface="Raleway"/>
      <p:regular r:id="rId6"/>
      <p:bold r:id="rId7"/>
      <p:italic r:id="rId8"/>
      <p:boldItalic r:id="rId9"/>
    </p:embeddedFont>
    <p:embeddedFont>
      <p:font typeface="Roboto"/>
      <p:regular r:id="rId10"/>
      <p:bold r:id="rId11"/>
      <p:italic r:id="rId12"/>
      <p:boldItalic r:id="rId13"/>
    </p:embeddedFont>
    <p:embeddedFont>
      <p:font typeface="Inter"/>
      <p:regular r:id="rId14"/>
      <p:bold r:id="rId15"/>
      <p:italic r:id="rId16"/>
      <p:boldItalic r:id="rId17"/>
    </p:embeddedFont>
    <p:embeddedFont>
      <p:font typeface="Inter Medium"/>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jWvmIPpgdMcmELKG00fXaNQsHJ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Medium-italic.fntdata"/><Relationship Id="rId11" Type="http://schemas.openxmlformats.org/officeDocument/2006/relationships/font" Target="fonts/Roboto-bold.fntdata"/><Relationship Id="rId22" Type="http://customschemas.google.com/relationships/presentationmetadata" Target="metadata"/><Relationship Id="rId10" Type="http://schemas.openxmlformats.org/officeDocument/2006/relationships/font" Target="fonts/Roboto-regular.fntdata"/><Relationship Id="rId21" Type="http://schemas.openxmlformats.org/officeDocument/2006/relationships/font" Target="fonts/InterMedium-boldItalic.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aleway-boldItalic.fntdata"/><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slide" Target="slides/slide1.xml"/><Relationship Id="rId19" Type="http://schemas.openxmlformats.org/officeDocument/2006/relationships/font" Target="fonts/InterMedium-bold.fntdata"/><Relationship Id="rId6" Type="http://schemas.openxmlformats.org/officeDocument/2006/relationships/font" Target="fonts/Raleway-regular.fntdata"/><Relationship Id="rId18" Type="http://schemas.openxmlformats.org/officeDocument/2006/relationships/font" Target="fonts/InterMedium-regular.fntdata"/><Relationship Id="rId7" Type="http://schemas.openxmlformats.org/officeDocument/2006/relationships/font" Target="fonts/Raleway-bold.fntdata"/><Relationship Id="rId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
          <p:cNvPicPr preferRelativeResize="0"/>
          <p:nvPr/>
        </p:nvPicPr>
        <p:blipFill rotWithShape="1">
          <a:blip r:embed="rId1">
            <a:alphaModFix/>
          </a:blip>
          <a:srcRect b="0" l="0" r="0" t="0"/>
          <a:stretch/>
        </p:blipFill>
        <p:spPr>
          <a:xfrm>
            <a:off x="1470124" y="1142587"/>
            <a:ext cx="6083684" cy="1503027"/>
          </a:xfrm>
          <a:prstGeom prst="rect">
            <a:avLst/>
          </a:prstGeom>
          <a:noFill/>
          <a:ln>
            <a:noFill/>
          </a:ln>
        </p:spPr>
      </p:pic>
      <p:pic>
        <p:nvPicPr>
          <p:cNvPr descr="A green text on a white background&#10;&#10;AI-generated content may be incorrect." id="7" name="Google Shape;7;p2"/>
          <p:cNvPicPr preferRelativeResize="0"/>
          <p:nvPr/>
        </p:nvPicPr>
        <p:blipFill rotWithShape="1">
          <a:blip r:embed="rId2">
            <a:alphaModFix/>
          </a:blip>
          <a:srcRect b="0" l="0" r="0" t="0"/>
          <a:stretch/>
        </p:blipFill>
        <p:spPr>
          <a:xfrm>
            <a:off x="21032689" y="728428"/>
            <a:ext cx="7772400" cy="2331343"/>
          </a:xfrm>
          <a:prstGeom prst="rect">
            <a:avLst/>
          </a:prstGeom>
          <a:noFill/>
          <a:ln>
            <a:noFill/>
          </a:ln>
        </p:spPr>
      </p:pic>
      <p:cxnSp>
        <p:nvCxnSpPr>
          <p:cNvPr id="8" name="Google Shape;8;p2"/>
          <p:cNvCxnSpPr/>
          <p:nvPr/>
        </p:nvCxnSpPr>
        <p:spPr>
          <a:xfrm>
            <a:off x="-1" y="6195945"/>
            <a:ext cx="30275214" cy="0"/>
          </a:xfrm>
          <a:prstGeom prst="straightConnector1">
            <a:avLst/>
          </a:prstGeom>
          <a:noFill/>
          <a:ln cap="flat" cmpd="sng" w="63500">
            <a:solidFill>
              <a:srgbClr val="8CC793"/>
            </a:solidFill>
            <a:prstDash val="solid"/>
            <a:miter lim="800000"/>
            <a:headEnd len="sm" w="sm" type="none"/>
            <a:tailEnd len="sm" w="sm" type="none"/>
          </a:ln>
        </p:spPr>
      </p:cxnSp>
      <p:cxnSp>
        <p:nvCxnSpPr>
          <p:cNvPr id="9" name="Google Shape;9;p2"/>
          <p:cNvCxnSpPr/>
          <p:nvPr/>
        </p:nvCxnSpPr>
        <p:spPr>
          <a:xfrm>
            <a:off x="-1" y="37803705"/>
            <a:ext cx="30275214" cy="0"/>
          </a:xfrm>
          <a:prstGeom prst="straightConnector1">
            <a:avLst/>
          </a:prstGeom>
          <a:noFill/>
          <a:ln cap="flat" cmpd="sng" w="63500">
            <a:solidFill>
              <a:srgbClr val="8CC793"/>
            </a:solidFill>
            <a:prstDash val="solid"/>
            <a:miter lim="800000"/>
            <a:headEnd len="sm" w="sm" type="none"/>
            <a:tailEnd len="sm" w="sm" type="none"/>
          </a:ln>
        </p:spPr>
      </p:cxnSp>
      <p:pic>
        <p:nvPicPr>
          <p:cNvPr id="10" name="Google Shape;10;p2"/>
          <p:cNvPicPr preferRelativeResize="0"/>
          <p:nvPr/>
        </p:nvPicPr>
        <p:blipFill rotWithShape="1">
          <a:blip r:embed="rId3">
            <a:alphaModFix/>
          </a:blip>
          <a:srcRect b="0" l="0" r="0" t="0"/>
          <a:stretch/>
        </p:blipFill>
        <p:spPr>
          <a:xfrm>
            <a:off x="1470124" y="40401811"/>
            <a:ext cx="6083684" cy="127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nimh-dsst/osm/" TargetMode="External"/><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grpSp>
        <p:nvGrpSpPr>
          <p:cNvPr id="16" name="Google Shape;16;p1"/>
          <p:cNvGrpSpPr/>
          <p:nvPr/>
        </p:nvGrpSpPr>
        <p:grpSpPr>
          <a:xfrm>
            <a:off x="347616" y="23826347"/>
            <a:ext cx="9237075" cy="8106232"/>
            <a:chOff x="197638" y="31824000"/>
            <a:chExt cx="6894369" cy="6050330"/>
          </a:xfrm>
        </p:grpSpPr>
        <p:grpSp>
          <p:nvGrpSpPr>
            <p:cNvPr id="17" name="Google Shape;17;p1"/>
            <p:cNvGrpSpPr/>
            <p:nvPr/>
          </p:nvGrpSpPr>
          <p:grpSpPr>
            <a:xfrm>
              <a:off x="197638" y="31824000"/>
              <a:ext cx="6894369" cy="6050330"/>
              <a:chOff x="-9797725" y="23717100"/>
              <a:chExt cx="6894369" cy="6050330"/>
            </a:xfrm>
          </p:grpSpPr>
          <p:sp>
            <p:nvSpPr>
              <p:cNvPr id="18" name="Google Shape;18;p1"/>
              <p:cNvSpPr/>
              <p:nvPr/>
            </p:nvSpPr>
            <p:spPr>
              <a:xfrm>
                <a:off x="-9797725" y="23717100"/>
                <a:ext cx="3607800" cy="400200"/>
              </a:xfrm>
              <a:prstGeom prst="rect">
                <a:avLst/>
              </a:prstGeom>
              <a:solidFill>
                <a:srgbClr val="83BCF0"/>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Funders Found: 3,430,269</a:t>
                </a:r>
                <a:endParaRPr sz="2009">
                  <a:latin typeface="Roboto"/>
                  <a:ea typeface="Roboto"/>
                  <a:cs typeface="Roboto"/>
                  <a:sym typeface="Roboto"/>
                </a:endParaRPr>
              </a:p>
            </p:txBody>
          </p:sp>
          <p:sp>
            <p:nvSpPr>
              <p:cNvPr id="19" name="Google Shape;19;p1"/>
              <p:cNvSpPr/>
              <p:nvPr/>
            </p:nvSpPr>
            <p:spPr>
              <a:xfrm>
                <a:off x="-6189800" y="23717100"/>
                <a:ext cx="3276600" cy="400200"/>
              </a:xfrm>
              <a:prstGeom prst="rect">
                <a:avLst/>
              </a:prstGeom>
              <a:solidFill>
                <a:srgbClr val="A2C4C9"/>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No Funders Found: 3,108,760</a:t>
                </a:r>
                <a:endParaRPr sz="2009">
                  <a:latin typeface="Roboto"/>
                  <a:ea typeface="Roboto"/>
                  <a:cs typeface="Roboto"/>
                  <a:sym typeface="Roboto"/>
                </a:endParaRPr>
              </a:p>
            </p:txBody>
          </p:sp>
          <p:sp>
            <p:nvSpPr>
              <p:cNvPr id="20" name="Google Shape;20;p1"/>
              <p:cNvSpPr txBox="1"/>
              <p:nvPr/>
            </p:nvSpPr>
            <p:spPr>
              <a:xfrm>
                <a:off x="-9771856" y="28419530"/>
                <a:ext cx="6868500" cy="1347900"/>
              </a:xfrm>
              <a:prstGeom prst="rect">
                <a:avLst/>
              </a:prstGeom>
              <a:noFill/>
              <a:ln>
                <a:noFill/>
              </a:ln>
            </p:spPr>
            <p:txBody>
              <a:bodyPr anchorCtr="0" anchor="t" bIns="122500" lIns="122500" spcFirstLastPara="1" rIns="122500" wrap="square" tIns="122500">
                <a:noAutofit/>
              </a:bodyPr>
              <a:lstStyle/>
              <a:p>
                <a:pPr indent="0" lvl="0" marL="0" rtl="0" algn="l">
                  <a:spcBef>
                    <a:spcPts val="0"/>
                  </a:spcBef>
                  <a:spcAft>
                    <a:spcPts val="0"/>
                  </a:spcAft>
                  <a:buNone/>
                </a:pPr>
                <a:r>
                  <a:rPr b="1" lang="de-AT" sz="2143"/>
                  <a:t>Distributions of funding information in 6.7M PMCOA publications</a:t>
                </a:r>
                <a:endParaRPr b="1" sz="2143"/>
              </a:p>
              <a:p>
                <a:pPr indent="0" lvl="0" marL="0" rtl="0" algn="l">
                  <a:spcBef>
                    <a:spcPts val="0"/>
                  </a:spcBef>
                  <a:spcAft>
                    <a:spcPts val="0"/>
                  </a:spcAft>
                  <a:buNone/>
                </a:pPr>
                <a:r>
                  <a:rPr lang="de-AT" sz="2143"/>
                  <a:t>Of 3.43M with funder info, 32% were supported by the top 10 funders (1.09M) and 68% by others (2.34M). Of 3.32M with no funders, 48% had no funding disclosure (1.58M), 46% lacked a PMID (1.53M), and 6% failed in the </a:t>
                </a:r>
                <a:r>
                  <a:rPr i="1" lang="de-AT" sz="2143"/>
                  <a:t>rtansparent</a:t>
                </a:r>
                <a:r>
                  <a:rPr lang="de-AT" sz="2143"/>
                  <a:t> pipeline (209K).</a:t>
                </a:r>
                <a:endParaRPr sz="2143"/>
              </a:p>
            </p:txBody>
          </p:sp>
          <p:sp>
            <p:nvSpPr>
              <p:cNvPr id="21" name="Google Shape;21;p1"/>
              <p:cNvSpPr/>
              <p:nvPr/>
            </p:nvSpPr>
            <p:spPr>
              <a:xfrm>
                <a:off x="-6189800" y="24117300"/>
                <a:ext cx="3276600" cy="2160600"/>
              </a:xfrm>
              <a:prstGeom prst="rect">
                <a:avLst/>
              </a:prstGeom>
              <a:solidFill>
                <a:srgbClr val="76A5AF"/>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No Funding Disclosure Detected: 1,581,166</a:t>
                </a:r>
                <a:endParaRPr sz="2009">
                  <a:latin typeface="Roboto"/>
                  <a:ea typeface="Roboto"/>
                  <a:cs typeface="Roboto"/>
                  <a:sym typeface="Roboto"/>
                </a:endParaRPr>
              </a:p>
            </p:txBody>
          </p:sp>
          <p:sp>
            <p:nvSpPr>
              <p:cNvPr id="22" name="Google Shape;22;p1"/>
              <p:cNvSpPr/>
              <p:nvPr/>
            </p:nvSpPr>
            <p:spPr>
              <a:xfrm>
                <a:off x="-9797725" y="24117300"/>
                <a:ext cx="3607800" cy="2895900"/>
              </a:xfrm>
              <a:prstGeom prst="rect">
                <a:avLst/>
              </a:prstGeom>
              <a:solidFill>
                <a:srgbClr val="6FA8DC"/>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Not Top 10 Funders: 2,337,245</a:t>
                </a:r>
                <a:endParaRPr sz="2009">
                  <a:latin typeface="Roboto"/>
                  <a:ea typeface="Roboto"/>
                  <a:cs typeface="Roboto"/>
                  <a:sym typeface="Roboto"/>
                </a:endParaRPr>
              </a:p>
            </p:txBody>
          </p:sp>
          <p:sp>
            <p:nvSpPr>
              <p:cNvPr id="23" name="Google Shape;23;p1"/>
              <p:cNvSpPr/>
              <p:nvPr/>
            </p:nvSpPr>
            <p:spPr>
              <a:xfrm>
                <a:off x="-6189800" y="26277900"/>
                <a:ext cx="3276600" cy="2087100"/>
              </a:xfrm>
              <a:prstGeom prst="rect">
                <a:avLst/>
              </a:prstGeom>
              <a:solidFill>
                <a:srgbClr val="45818E"/>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No PMID: 1,527,594</a:t>
                </a:r>
                <a:endParaRPr sz="2009">
                  <a:latin typeface="Roboto"/>
                  <a:ea typeface="Roboto"/>
                  <a:cs typeface="Roboto"/>
                  <a:sym typeface="Roboto"/>
                </a:endParaRPr>
              </a:p>
            </p:txBody>
          </p:sp>
          <p:sp>
            <p:nvSpPr>
              <p:cNvPr id="24" name="Google Shape;24;p1"/>
              <p:cNvSpPr/>
              <p:nvPr/>
            </p:nvSpPr>
            <p:spPr>
              <a:xfrm>
                <a:off x="-9797725" y="27013200"/>
                <a:ext cx="3607800" cy="1351800"/>
              </a:xfrm>
              <a:prstGeom prst="rect">
                <a:avLst/>
              </a:prstGeom>
              <a:solidFill>
                <a:srgbClr val="3D85C6"/>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Top 10 Funders: 1,093,024</a:t>
                </a:r>
                <a:endParaRPr sz="2009">
                  <a:latin typeface="Roboto"/>
                  <a:ea typeface="Roboto"/>
                  <a:cs typeface="Roboto"/>
                  <a:sym typeface="Roboto"/>
                </a:endParaRPr>
              </a:p>
            </p:txBody>
          </p:sp>
        </p:grpSp>
        <p:grpSp>
          <p:nvGrpSpPr>
            <p:cNvPr id="25" name="Google Shape;25;p1"/>
            <p:cNvGrpSpPr/>
            <p:nvPr/>
          </p:nvGrpSpPr>
          <p:grpSpPr>
            <a:xfrm>
              <a:off x="207875" y="31824000"/>
              <a:ext cx="6873900" cy="4679950"/>
              <a:chOff x="6184800" y="24996425"/>
              <a:chExt cx="6873900" cy="4679950"/>
            </a:xfrm>
          </p:grpSpPr>
          <p:sp>
            <p:nvSpPr>
              <p:cNvPr id="26" name="Google Shape;26;p1"/>
              <p:cNvSpPr/>
              <p:nvPr/>
            </p:nvSpPr>
            <p:spPr>
              <a:xfrm>
                <a:off x="6184800" y="25458375"/>
                <a:ext cx="3487800" cy="2868900"/>
              </a:xfrm>
              <a:prstGeom prst="rect">
                <a:avLst/>
              </a:prstGeom>
              <a:solidFill>
                <a:srgbClr val="6FA8DC"/>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Not Top 10 Funders: 2,337,245</a:t>
                </a:r>
                <a:endParaRPr sz="2009">
                  <a:latin typeface="Roboto"/>
                  <a:ea typeface="Roboto"/>
                  <a:cs typeface="Roboto"/>
                  <a:sym typeface="Roboto"/>
                </a:endParaRPr>
              </a:p>
            </p:txBody>
          </p:sp>
          <p:sp>
            <p:nvSpPr>
              <p:cNvPr id="27" name="Google Shape;27;p1"/>
              <p:cNvSpPr/>
              <p:nvPr/>
            </p:nvSpPr>
            <p:spPr>
              <a:xfrm>
                <a:off x="9672600" y="25458375"/>
                <a:ext cx="3386100" cy="1997400"/>
              </a:xfrm>
              <a:prstGeom prst="rect">
                <a:avLst/>
              </a:prstGeom>
              <a:solidFill>
                <a:srgbClr val="76A5AF"/>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No Funder Disclosure Detected:                                               </a:t>
                </a:r>
                <a:endParaRPr sz="2009">
                  <a:latin typeface="Roboto"/>
                  <a:ea typeface="Roboto"/>
                  <a:cs typeface="Roboto"/>
                  <a:sym typeface="Roboto"/>
                </a:endParaRPr>
              </a:p>
              <a:p>
                <a:pPr indent="0" lvl="0" marL="0" rtl="0" algn="l">
                  <a:spcBef>
                    <a:spcPts val="0"/>
                  </a:spcBef>
                  <a:spcAft>
                    <a:spcPts val="0"/>
                  </a:spcAft>
                  <a:buNone/>
                </a:pPr>
                <a:r>
                  <a:rPr lang="de-AT" sz="2009">
                    <a:latin typeface="Roboto"/>
                    <a:ea typeface="Roboto"/>
                    <a:cs typeface="Roboto"/>
                    <a:sym typeface="Roboto"/>
                  </a:rPr>
                  <a:t> 1,581,166</a:t>
                </a:r>
                <a:endParaRPr sz="2009">
                  <a:latin typeface="Roboto"/>
                  <a:ea typeface="Roboto"/>
                  <a:cs typeface="Roboto"/>
                  <a:sym typeface="Roboto"/>
                </a:endParaRPr>
              </a:p>
            </p:txBody>
          </p:sp>
          <p:sp>
            <p:nvSpPr>
              <p:cNvPr id="28" name="Google Shape;28;p1"/>
              <p:cNvSpPr/>
              <p:nvPr/>
            </p:nvSpPr>
            <p:spPr>
              <a:xfrm>
                <a:off x="6184800" y="24996425"/>
                <a:ext cx="3487800" cy="462000"/>
              </a:xfrm>
              <a:prstGeom prst="rect">
                <a:avLst/>
              </a:prstGeom>
              <a:solidFill>
                <a:srgbClr val="9FC5E8"/>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Funders Found: 3,430,269</a:t>
                </a:r>
                <a:endParaRPr sz="2009">
                  <a:latin typeface="Roboto"/>
                  <a:ea typeface="Roboto"/>
                  <a:cs typeface="Roboto"/>
                  <a:sym typeface="Roboto"/>
                </a:endParaRPr>
              </a:p>
            </p:txBody>
          </p:sp>
          <p:sp>
            <p:nvSpPr>
              <p:cNvPr id="29" name="Google Shape;29;p1"/>
              <p:cNvSpPr/>
              <p:nvPr/>
            </p:nvSpPr>
            <p:spPr>
              <a:xfrm>
                <a:off x="9672600" y="24996425"/>
                <a:ext cx="3386100" cy="462000"/>
              </a:xfrm>
              <a:prstGeom prst="rect">
                <a:avLst/>
              </a:prstGeom>
              <a:solidFill>
                <a:srgbClr val="A2C4C9"/>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No Funders Found: 3,318,737</a:t>
                </a:r>
                <a:endParaRPr sz="2009">
                  <a:latin typeface="Roboto"/>
                  <a:ea typeface="Roboto"/>
                  <a:cs typeface="Roboto"/>
                  <a:sym typeface="Roboto"/>
                </a:endParaRPr>
              </a:p>
            </p:txBody>
          </p:sp>
          <p:sp>
            <p:nvSpPr>
              <p:cNvPr id="30" name="Google Shape;30;p1"/>
              <p:cNvSpPr/>
              <p:nvPr/>
            </p:nvSpPr>
            <p:spPr>
              <a:xfrm>
                <a:off x="6184800" y="28327275"/>
                <a:ext cx="3487800" cy="1347900"/>
              </a:xfrm>
              <a:prstGeom prst="rect">
                <a:avLst/>
              </a:prstGeom>
              <a:solidFill>
                <a:srgbClr val="3D85C6"/>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Top 10 Funders: 1,093,024</a:t>
                </a:r>
                <a:endParaRPr sz="2009">
                  <a:latin typeface="Roboto"/>
                  <a:ea typeface="Roboto"/>
                  <a:cs typeface="Roboto"/>
                  <a:sym typeface="Roboto"/>
                </a:endParaRPr>
              </a:p>
            </p:txBody>
          </p:sp>
          <p:sp>
            <p:nvSpPr>
              <p:cNvPr id="31" name="Google Shape;31;p1"/>
              <p:cNvSpPr/>
              <p:nvPr/>
            </p:nvSpPr>
            <p:spPr>
              <a:xfrm>
                <a:off x="9672600" y="27455775"/>
                <a:ext cx="2976000" cy="2219400"/>
              </a:xfrm>
              <a:prstGeom prst="rect">
                <a:avLst/>
              </a:prstGeom>
              <a:solidFill>
                <a:srgbClr val="45818E"/>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No PMID: 1,527,594</a:t>
                </a:r>
                <a:endParaRPr sz="2009">
                  <a:latin typeface="Roboto"/>
                  <a:ea typeface="Roboto"/>
                  <a:cs typeface="Roboto"/>
                  <a:sym typeface="Roboto"/>
                </a:endParaRPr>
              </a:p>
            </p:txBody>
          </p:sp>
          <p:sp>
            <p:nvSpPr>
              <p:cNvPr id="32" name="Google Shape;32;p1"/>
              <p:cNvSpPr/>
              <p:nvPr/>
            </p:nvSpPr>
            <p:spPr>
              <a:xfrm rot="5400000">
                <a:off x="11741700" y="28361625"/>
                <a:ext cx="2221800" cy="407700"/>
              </a:xfrm>
              <a:prstGeom prst="rect">
                <a:avLst/>
              </a:prstGeom>
              <a:solidFill>
                <a:srgbClr val="6E888D"/>
              </a:solidFill>
              <a:ln cap="flat" cmpd="sng" w="12775">
                <a:solidFill>
                  <a:srgbClr val="FFFFFF"/>
                </a:solidFill>
                <a:prstDash val="solid"/>
                <a:round/>
                <a:headEnd len="sm" w="sm" type="none"/>
                <a:tailEnd len="sm" w="sm" type="none"/>
              </a:ln>
            </p:spPr>
            <p:txBody>
              <a:bodyPr anchorCtr="0" anchor="t" bIns="122500" lIns="61225" spcFirstLastPara="1" rIns="122500" wrap="square" tIns="122500">
                <a:noAutofit/>
              </a:bodyPr>
              <a:lstStyle/>
              <a:p>
                <a:pPr indent="0" lvl="0" marL="0" rtl="0" algn="l">
                  <a:spcBef>
                    <a:spcPts val="0"/>
                  </a:spcBef>
                  <a:spcAft>
                    <a:spcPts val="0"/>
                  </a:spcAft>
                  <a:buNone/>
                </a:pPr>
                <a:r>
                  <a:rPr lang="de-AT" sz="2009">
                    <a:latin typeface="Roboto"/>
                    <a:ea typeface="Roboto"/>
                    <a:cs typeface="Roboto"/>
                    <a:sym typeface="Roboto"/>
                  </a:rPr>
                  <a:t> Other Error: 209,977</a:t>
                </a:r>
                <a:endParaRPr sz="2009">
                  <a:latin typeface="Roboto"/>
                  <a:ea typeface="Roboto"/>
                  <a:cs typeface="Roboto"/>
                  <a:sym typeface="Roboto"/>
                </a:endParaRPr>
              </a:p>
            </p:txBody>
          </p:sp>
        </p:grpSp>
      </p:grpSp>
      <p:grpSp>
        <p:nvGrpSpPr>
          <p:cNvPr id="33" name="Google Shape;33;p1"/>
          <p:cNvGrpSpPr/>
          <p:nvPr/>
        </p:nvGrpSpPr>
        <p:grpSpPr>
          <a:xfrm>
            <a:off x="343525" y="15587786"/>
            <a:ext cx="9237037" cy="16376800"/>
            <a:chOff x="1031472" y="15978921"/>
            <a:chExt cx="7107600" cy="13764330"/>
          </a:xfrm>
        </p:grpSpPr>
        <p:sp>
          <p:nvSpPr>
            <p:cNvPr id="34" name="Google Shape;34;p1"/>
            <p:cNvSpPr/>
            <p:nvPr/>
          </p:nvSpPr>
          <p:spPr>
            <a:xfrm>
              <a:off x="1031472" y="16357852"/>
              <a:ext cx="7107600" cy="13385400"/>
            </a:xfrm>
            <a:prstGeom prst="roundRect">
              <a:avLst>
                <a:gd fmla="val 859" name="adj"/>
              </a:avLst>
            </a:prstGeom>
            <a:noFill/>
            <a:ln cap="flat" cmpd="sng" w="121625">
              <a:solidFill>
                <a:srgbClr val="6AA84F"/>
              </a:solidFill>
              <a:prstDash val="solid"/>
              <a:round/>
              <a:headEnd len="sm" w="sm" type="none"/>
              <a:tailEnd len="sm" w="sm" type="none"/>
            </a:ln>
          </p:spPr>
          <p:txBody>
            <a:bodyPr anchorCtr="0" anchor="ctr" bIns="97300" lIns="486525" spcFirstLastPara="1" rIns="486525" wrap="square" tIns="97300">
              <a:noAutofit/>
            </a:bodyPr>
            <a:lstStyle/>
            <a:p>
              <a:pPr indent="-446459" lvl="0" marL="486517" rtl="0" algn="l">
                <a:lnSpc>
                  <a:spcPct val="115000"/>
                </a:lnSpc>
                <a:spcBef>
                  <a:spcPts val="1277"/>
                </a:spcBef>
                <a:spcAft>
                  <a:spcPts val="0"/>
                </a:spcAft>
                <a:buSzPts val="3200"/>
                <a:buAutoNum type="arabicPeriod"/>
              </a:pPr>
              <a:r>
                <a:rPr lang="de-AT" sz="3200">
                  <a:extLst>
                    <a:ext uri="http://customooxmlschemas.google.com/">
                      <go:slidesCustomData xmlns:go="http://customooxmlschemas.google.com/" textRoundtripDataId="0"/>
                    </a:ext>
                  </a:extLst>
                </a:rPr>
                <a:t>Downloaded 6.7 million XMLs from PubMed Central Open Access </a:t>
              </a:r>
              <a:br>
                <a:rPr lang="de-AT" sz="3200">
                  <a:extLst>
                    <a:ext uri="http://customooxmlschemas.google.com/">
                      <go:slidesCustomData xmlns:go="http://customooxmlschemas.google.com/" textRoundtripDataId="0"/>
                    </a:ext>
                  </a:extLst>
                </a:rPr>
              </a:br>
              <a:r>
                <a:rPr lang="de-AT" sz="3200">
                  <a:extLst>
                    <a:ext uri="http://customooxmlschemas.google.com/">
                      <go:slidesCustomData xmlns:go="http://customooxmlschemas.google.com/" textRoundtripDataId="0"/>
                    </a:ext>
                  </a:extLst>
                </a:rPr>
                <a:t>(PMC OA)</a:t>
              </a:r>
              <a:endParaRPr sz="3200"/>
            </a:p>
            <a:p>
              <a:pPr indent="-446459" lvl="0" marL="486517" rtl="0" algn="l">
                <a:lnSpc>
                  <a:spcPct val="115000"/>
                </a:lnSpc>
                <a:spcBef>
                  <a:spcPts val="0"/>
                </a:spcBef>
                <a:spcAft>
                  <a:spcPts val="0"/>
                </a:spcAft>
                <a:buSzPts val="3200"/>
                <a:buAutoNum type="arabicPeriod"/>
              </a:pPr>
              <a:r>
                <a:rPr lang="de-AT" sz="3200"/>
                <a:t>Ran data through </a:t>
              </a:r>
              <a:r>
                <a:rPr i="1" lang="de-AT" sz="3200"/>
                <a:t>rtransparent</a:t>
              </a:r>
              <a:r>
                <a:rPr lang="de-AT" sz="3200"/>
                <a:t> pipeline</a:t>
              </a:r>
              <a:r>
                <a:rPr baseline="30000" lang="de-AT" sz="3200"/>
                <a:t>1</a:t>
              </a:r>
              <a:endParaRPr sz="3200"/>
            </a:p>
            <a:p>
              <a:pPr indent="-446459" lvl="0" marL="486517" rtl="0" algn="l">
                <a:lnSpc>
                  <a:spcPct val="115000"/>
                </a:lnSpc>
                <a:spcBef>
                  <a:spcPts val="0"/>
                </a:spcBef>
                <a:spcAft>
                  <a:spcPts val="0"/>
                </a:spcAft>
                <a:buSzPts val="3200"/>
                <a:buAutoNum type="arabicPeriod"/>
              </a:pPr>
              <a:r>
                <a:rPr lang="de-AT" sz="3200"/>
                <a:t>Identified publications acknowledging funding from one of ten largest funders of biomedical science</a:t>
              </a:r>
              <a:endParaRPr sz="3200"/>
            </a:p>
            <a:p>
              <a:pPr indent="-446459" lvl="0" marL="486517" rtl="0" algn="l">
                <a:lnSpc>
                  <a:spcPct val="115000"/>
                </a:lnSpc>
                <a:spcBef>
                  <a:spcPts val="0"/>
                </a:spcBef>
                <a:spcAft>
                  <a:spcPts val="0"/>
                </a:spcAft>
                <a:buSzPts val="3200"/>
                <a:buAutoNum type="arabicPeriod"/>
              </a:pPr>
              <a:r>
                <a:rPr lang="de-AT" sz="3200"/>
                <a:t>Built interactive dashboard</a:t>
              </a:r>
              <a:endParaRPr sz="3200"/>
            </a:p>
            <a:p>
              <a:pPr indent="-446458" lvl="1" marL="973034" rtl="0" algn="l">
                <a:lnSpc>
                  <a:spcPct val="115000"/>
                </a:lnSpc>
                <a:spcBef>
                  <a:spcPts val="0"/>
                </a:spcBef>
                <a:spcAft>
                  <a:spcPts val="0"/>
                </a:spcAft>
                <a:buSzPts val="3200"/>
                <a:buAutoNum type="alphaLcPeriod"/>
              </a:pPr>
              <a:r>
                <a:rPr lang="de-AT" sz="3200"/>
                <a:t>All materials are available under CC0 license in the NIMH-DSST Open Science Metrics repository².</a:t>
              </a:r>
              <a:endParaRPr sz="3200"/>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0"/>
                </a:spcAft>
                <a:buNone/>
              </a:pPr>
              <a:r>
                <a:t/>
              </a:r>
              <a:endParaRPr sz="2873"/>
            </a:p>
            <a:p>
              <a:pPr indent="0" lvl="0" marL="0" rtl="0" algn="l">
                <a:lnSpc>
                  <a:spcPct val="115000"/>
                </a:lnSpc>
                <a:spcBef>
                  <a:spcPts val="1277"/>
                </a:spcBef>
                <a:spcAft>
                  <a:spcPts val="1277"/>
                </a:spcAft>
                <a:buNone/>
              </a:pPr>
              <a:r>
                <a:t/>
              </a:r>
              <a:endParaRPr sz="2873"/>
            </a:p>
          </p:txBody>
        </p:sp>
        <p:sp>
          <p:nvSpPr>
            <p:cNvPr id="35" name="Google Shape;35;p1"/>
            <p:cNvSpPr txBox="1"/>
            <p:nvPr/>
          </p:nvSpPr>
          <p:spPr>
            <a:xfrm>
              <a:off x="1230705" y="15978921"/>
              <a:ext cx="3219000" cy="7998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6AA84F"/>
                  </a:solidFill>
                  <a:latin typeface="Raleway"/>
                  <a:ea typeface="Raleway"/>
                  <a:cs typeface="Raleway"/>
                  <a:sym typeface="Raleway"/>
                </a:rPr>
                <a:t>METHODS</a:t>
              </a:r>
              <a:endParaRPr b="1" sz="6384">
                <a:solidFill>
                  <a:srgbClr val="6AA84F"/>
                </a:solidFill>
                <a:latin typeface="Raleway"/>
                <a:ea typeface="Raleway"/>
                <a:cs typeface="Raleway"/>
                <a:sym typeface="Raleway"/>
              </a:endParaRPr>
            </a:p>
          </p:txBody>
        </p:sp>
      </p:grpSp>
      <p:sp>
        <p:nvSpPr>
          <p:cNvPr id="36" name="Google Shape;36;p1"/>
          <p:cNvSpPr/>
          <p:nvPr/>
        </p:nvSpPr>
        <p:spPr>
          <a:xfrm>
            <a:off x="600375" y="588825"/>
            <a:ext cx="8070900" cy="2458500"/>
          </a:xfrm>
          <a:prstGeom prst="rect">
            <a:avLst/>
          </a:prstGeom>
          <a:solidFill>
            <a:srgbClr val="FFFFFF">
              <a:alpha val="61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1"/>
          <p:cNvSpPr txBox="1"/>
          <p:nvPr/>
        </p:nvSpPr>
        <p:spPr>
          <a:xfrm>
            <a:off x="9584708" y="39953370"/>
            <a:ext cx="111183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AT" sz="2200" u="none" cap="none" strike="noStrike">
                <a:solidFill>
                  <a:schemeClr val="dk1"/>
                </a:solidFill>
                <a:latin typeface="Inter Medium"/>
                <a:ea typeface="Inter Medium"/>
                <a:cs typeface="Inter Medium"/>
                <a:sym typeface="Inter Medium"/>
              </a:rPr>
              <a:t>EBRAINS 2.0</a:t>
            </a:r>
            <a:r>
              <a:rPr lang="de-AT" sz="2200">
                <a:solidFill>
                  <a:schemeClr val="dk1"/>
                </a:solidFill>
                <a:latin typeface="Inter Medium"/>
                <a:ea typeface="Inter Medium"/>
                <a:cs typeface="Inter Medium"/>
                <a:sym typeface="Inter Medium"/>
              </a:rPr>
              <a:t> has received funding from the European Union's Research and Innovation Program Horizon </a:t>
            </a:r>
            <a:r>
              <a:rPr b="0" i="0" lang="de-AT" sz="2200" u="none" cap="none" strike="noStrike">
                <a:solidFill>
                  <a:schemeClr val="dk1"/>
                </a:solidFill>
                <a:latin typeface="Inter Medium"/>
                <a:ea typeface="Inter Medium"/>
                <a:cs typeface="Inter Medium"/>
                <a:sym typeface="Inter Medium"/>
              </a:rPr>
              <a:t>Europe under Grant Agreement No. 101147319.</a:t>
            </a:r>
            <a:endParaRPr b="0" i="0" sz="1800" u="none" cap="none" strike="noStrike">
              <a:solidFill>
                <a:schemeClr val="dk1"/>
              </a:solidFill>
              <a:latin typeface="Calibri"/>
              <a:ea typeface="Calibri"/>
              <a:cs typeface="Calibri"/>
              <a:sym typeface="Calibri"/>
            </a:endParaRPr>
          </a:p>
        </p:txBody>
      </p:sp>
      <p:sp>
        <p:nvSpPr>
          <p:cNvPr id="38" name="Google Shape;38;p1"/>
          <p:cNvSpPr/>
          <p:nvPr/>
        </p:nvSpPr>
        <p:spPr>
          <a:xfrm>
            <a:off x="10036450" y="9775175"/>
            <a:ext cx="19894800" cy="22190700"/>
          </a:xfrm>
          <a:prstGeom prst="roundRect">
            <a:avLst>
              <a:gd fmla="val 364" name="adj"/>
            </a:avLst>
          </a:prstGeom>
          <a:noFill/>
          <a:ln cap="flat" cmpd="sng" w="121625">
            <a:solidFill>
              <a:srgbClr val="6EACA2"/>
            </a:solidFill>
            <a:prstDash val="solid"/>
            <a:round/>
            <a:headEnd len="sm" w="sm" type="none"/>
            <a:tailEnd len="sm" w="sm" type="none"/>
          </a:ln>
        </p:spPr>
        <p:txBody>
          <a:bodyPr anchorCtr="0" anchor="ctr" bIns="97300" lIns="486525" spcFirstLastPara="1" rIns="486525" wrap="square" tIns="97300">
            <a:noAutofit/>
          </a:bodyPr>
          <a:lstStyle/>
          <a:p>
            <a:pPr indent="0" lvl="0" marL="0" rtl="0" algn="l">
              <a:lnSpc>
                <a:spcPct val="115000"/>
              </a:lnSpc>
              <a:spcBef>
                <a:spcPts val="0"/>
              </a:spcBef>
              <a:spcAft>
                <a:spcPts val="0"/>
              </a:spcAft>
              <a:buNone/>
            </a:pPr>
            <a:r>
              <a:t/>
            </a:r>
            <a:endParaRPr sz="3192"/>
          </a:p>
        </p:txBody>
      </p:sp>
      <p:sp>
        <p:nvSpPr>
          <p:cNvPr id="39" name="Google Shape;39;p1"/>
          <p:cNvSpPr/>
          <p:nvPr/>
        </p:nvSpPr>
        <p:spPr>
          <a:xfrm>
            <a:off x="347650" y="32525350"/>
            <a:ext cx="9237000" cy="4833000"/>
          </a:xfrm>
          <a:prstGeom prst="roundRect">
            <a:avLst>
              <a:gd fmla="val 859" name="adj"/>
            </a:avLst>
          </a:prstGeom>
          <a:noFill/>
          <a:ln cap="flat" cmpd="sng" w="121625">
            <a:solidFill>
              <a:srgbClr val="799B5D"/>
            </a:solidFill>
            <a:prstDash val="solid"/>
            <a:round/>
            <a:headEnd len="sm" w="sm" type="none"/>
            <a:tailEnd len="sm" w="sm" type="none"/>
          </a:ln>
        </p:spPr>
        <p:txBody>
          <a:bodyPr anchorCtr="0" anchor="ctr" bIns="97300" lIns="486525" spcFirstLastPara="1" rIns="486525" wrap="square" tIns="97300">
            <a:noAutofit/>
          </a:bodyPr>
          <a:lstStyle/>
          <a:p>
            <a:pPr indent="-486517" lvl="0" marL="486517" rtl="0" algn="l">
              <a:lnSpc>
                <a:spcPct val="115000"/>
              </a:lnSpc>
              <a:spcBef>
                <a:spcPts val="0"/>
              </a:spcBef>
              <a:spcAft>
                <a:spcPts val="0"/>
              </a:spcAft>
              <a:buNone/>
            </a:pPr>
            <a:r>
              <a:t/>
            </a:r>
            <a:endParaRPr sz="2128"/>
          </a:p>
          <a:p>
            <a:pPr indent="-486517" lvl="0" marL="486517" rtl="0" algn="l">
              <a:lnSpc>
                <a:spcPct val="115000"/>
              </a:lnSpc>
              <a:spcBef>
                <a:spcPts val="0"/>
              </a:spcBef>
              <a:spcAft>
                <a:spcPts val="0"/>
              </a:spcAft>
              <a:buNone/>
            </a:pPr>
            <a:r>
              <a:rPr lang="de-AT" sz="2128"/>
              <a:t>[1] Serghiou, S.; Contopoulos-Ioannidis, D. G.;  Boyack, K. W.; Riedel, N.; Wallach, J. D.; Ioannidis, J. P. A. Assessment of Transparency Indicators across the Biomedical Literature:      How Open Is Open? PLoS Biol. 2021,19(3), e3001107.</a:t>
            </a:r>
            <a:endParaRPr sz="2128"/>
          </a:p>
          <a:p>
            <a:pPr indent="-486517" lvl="0" marL="486517" rtl="0" algn="l">
              <a:lnSpc>
                <a:spcPct val="115000"/>
              </a:lnSpc>
              <a:spcBef>
                <a:spcPts val="0"/>
              </a:spcBef>
              <a:spcAft>
                <a:spcPts val="0"/>
              </a:spcAft>
              <a:buNone/>
            </a:pPr>
            <a:r>
              <a:rPr lang="de-AT" sz="2128"/>
              <a:t>[2] NIMH-DSST. GitHub - nimh-dsst/osm: OpenSciMetrics (OSM) applies NLP and LLM-based metrics and indicators related to transparency, data sharing, rigor, and open science on biomedical publications. GitHub.  </a:t>
            </a:r>
            <a:r>
              <a:rPr lang="de-AT" sz="2128" u="sng">
                <a:solidFill>
                  <a:srgbClr val="000099"/>
                </a:solidFill>
                <a:hlinkClick r:id="rId3">
                  <a:extLst>
                    <a:ext uri="{A12FA001-AC4F-418D-AE19-62706E023703}">
                      <ahyp:hlinkClr val="tx"/>
                    </a:ext>
                  </a:extLst>
                </a:hlinkClick>
              </a:rPr>
              <a:t>https://github.com/nimh-dsst/osm/</a:t>
            </a:r>
            <a:endParaRPr sz="2128"/>
          </a:p>
          <a:p>
            <a:pPr indent="-486517" lvl="0" marL="486517" rtl="0" algn="l">
              <a:lnSpc>
                <a:spcPct val="115000"/>
              </a:lnSpc>
              <a:spcBef>
                <a:spcPts val="0"/>
              </a:spcBef>
              <a:spcAft>
                <a:spcPts val="0"/>
              </a:spcAft>
              <a:buNone/>
            </a:pPr>
            <a:r>
              <a:rPr lang="de-AT" sz="2128"/>
              <a:t>[3] PMC OA FTP Service - PMC</a:t>
            </a:r>
            <a:r>
              <a:rPr lang="de-AT" sz="2128"/>
              <a:t>. </a:t>
            </a:r>
            <a:r>
              <a:rPr lang="de-AT" sz="2128"/>
              <a:t>https://pmc.ncbi.nlm.nih.gov/tools/ftp/</a:t>
            </a:r>
            <a:endParaRPr sz="2128"/>
          </a:p>
        </p:txBody>
      </p:sp>
      <p:sp>
        <p:nvSpPr>
          <p:cNvPr id="40" name="Google Shape;40;p1"/>
          <p:cNvSpPr/>
          <p:nvPr/>
        </p:nvSpPr>
        <p:spPr>
          <a:xfrm>
            <a:off x="10036450" y="32513800"/>
            <a:ext cx="13141500" cy="4833000"/>
          </a:xfrm>
          <a:prstGeom prst="roundRect">
            <a:avLst>
              <a:gd fmla="val 859" name="adj"/>
            </a:avLst>
          </a:prstGeom>
          <a:noFill/>
          <a:ln cap="flat" cmpd="sng" w="121625">
            <a:solidFill>
              <a:srgbClr val="69BA9F"/>
            </a:solidFill>
            <a:prstDash val="solid"/>
            <a:round/>
            <a:headEnd len="sm" w="sm" type="none"/>
            <a:tailEnd len="sm" w="sm" type="none"/>
          </a:ln>
        </p:spPr>
        <p:txBody>
          <a:bodyPr anchorCtr="0" anchor="ctr" bIns="97300" lIns="291875" spcFirstLastPara="1" rIns="486525" wrap="square" tIns="97300">
            <a:noAutofit/>
          </a:bodyPr>
          <a:lstStyle/>
          <a:p>
            <a:pPr indent="-425703" lvl="0" marL="486517" rtl="0" algn="l">
              <a:lnSpc>
                <a:spcPct val="115000"/>
              </a:lnSpc>
              <a:spcBef>
                <a:spcPts val="0"/>
              </a:spcBef>
              <a:spcAft>
                <a:spcPts val="0"/>
              </a:spcAft>
              <a:buSzPts val="2873"/>
              <a:buChar char="●"/>
            </a:pPr>
            <a:r>
              <a:rPr lang="de-AT" sz="2873"/>
              <a:t>Our analysis suggests that funding source has significant impact on the rates of data sharing reporting in publications.</a:t>
            </a:r>
            <a:endParaRPr sz="2873"/>
          </a:p>
          <a:p>
            <a:pPr indent="-425703" lvl="0" marL="486517" rtl="0" algn="l">
              <a:lnSpc>
                <a:spcPct val="115000"/>
              </a:lnSpc>
              <a:spcBef>
                <a:spcPts val="0"/>
              </a:spcBef>
              <a:spcAft>
                <a:spcPts val="0"/>
              </a:spcAft>
              <a:buSzPts val="2873"/>
              <a:buChar char="●"/>
            </a:pPr>
            <a:r>
              <a:rPr lang="de-AT" sz="2873"/>
              <a:t>Some funders who do not promote data sharing (NSFC) show low levels while other vocal advocates of data sharing show median levels (e.g. NIH, EC, Wellcome).</a:t>
            </a:r>
            <a:endParaRPr sz="2873"/>
          </a:p>
          <a:p>
            <a:pPr indent="-425703" lvl="0" marL="486517" rtl="0" algn="l">
              <a:lnSpc>
                <a:spcPct val="115000"/>
              </a:lnSpc>
              <a:spcBef>
                <a:spcPts val="0"/>
              </a:spcBef>
              <a:spcAft>
                <a:spcPts val="0"/>
              </a:spcAft>
              <a:buSzPts val="2873"/>
              <a:buChar char="●"/>
            </a:pPr>
            <a:r>
              <a:rPr lang="de-AT" sz="2873"/>
              <a:t>NIH Intramural publications have a 10-20% higher rate of data sharing, between 2018 and </a:t>
            </a:r>
            <a:r>
              <a:rPr lang="de-AT" sz="2873">
                <a:extLst>
                  <a:ext uri="http://customooxmlschemas.google.com/">
                    <go:slidesCustomData xmlns:go="http://customooxmlschemas.google.com/" textRoundtripDataId="1"/>
                  </a:ext>
                </a:extLst>
              </a:rPr>
              <a:t>2024</a:t>
            </a:r>
            <a:r>
              <a:rPr lang="de-AT" sz="2873"/>
              <a:t>.</a:t>
            </a:r>
            <a:endParaRPr sz="2873"/>
          </a:p>
        </p:txBody>
      </p:sp>
      <p:sp>
        <p:nvSpPr>
          <p:cNvPr id="41" name="Google Shape;41;p1"/>
          <p:cNvSpPr/>
          <p:nvPr/>
        </p:nvSpPr>
        <p:spPr>
          <a:xfrm>
            <a:off x="10036475" y="6751400"/>
            <a:ext cx="19894800" cy="2458500"/>
          </a:xfrm>
          <a:prstGeom prst="roundRect">
            <a:avLst>
              <a:gd fmla="val 859" name="adj"/>
            </a:avLst>
          </a:prstGeom>
          <a:noFill/>
          <a:ln cap="flat" cmpd="sng" w="121625">
            <a:solidFill>
              <a:srgbClr val="84CD34"/>
            </a:solidFill>
            <a:prstDash val="solid"/>
            <a:round/>
            <a:headEnd len="sm" w="sm" type="none"/>
            <a:tailEnd len="sm" w="sm" type="none"/>
          </a:ln>
        </p:spPr>
        <p:txBody>
          <a:bodyPr anchorCtr="0" anchor="ctr" bIns="97300" lIns="486525" spcFirstLastPara="1" rIns="486525" wrap="square" tIns="97300">
            <a:noAutofit/>
          </a:bodyPr>
          <a:lstStyle/>
          <a:p>
            <a:pPr indent="-478539" lvl="0" marL="486517" rtl="0" algn="l">
              <a:spcBef>
                <a:spcPts val="0"/>
              </a:spcBef>
              <a:spcAft>
                <a:spcPts val="0"/>
              </a:spcAft>
              <a:buSzPts val="3705"/>
              <a:buChar char="●"/>
            </a:pPr>
            <a:r>
              <a:rPr lang="de-AT" sz="3705"/>
              <a:t>Consistent difference in rates of data sharing exist between different funders.</a:t>
            </a:r>
            <a:endParaRPr sz="3705"/>
          </a:p>
          <a:p>
            <a:pPr indent="-478539" lvl="0" marL="486517" rtl="0" algn="l">
              <a:spcBef>
                <a:spcPts val="0"/>
              </a:spcBef>
              <a:spcAft>
                <a:spcPts val="0"/>
              </a:spcAft>
              <a:buSzPts val="3705"/>
              <a:buChar char="●"/>
            </a:pPr>
            <a:r>
              <a:rPr lang="de-AT" sz="3705"/>
              <a:t>We hypothesize that funders' policies and practices influence grantees likelihood of data sharing</a:t>
            </a:r>
            <a:endParaRPr sz="3705"/>
          </a:p>
        </p:txBody>
      </p:sp>
      <p:sp>
        <p:nvSpPr>
          <p:cNvPr id="42" name="Google Shape;42;p1"/>
          <p:cNvSpPr/>
          <p:nvPr/>
        </p:nvSpPr>
        <p:spPr>
          <a:xfrm>
            <a:off x="347650" y="6751400"/>
            <a:ext cx="9237000" cy="8679000"/>
          </a:xfrm>
          <a:prstGeom prst="roundRect">
            <a:avLst>
              <a:gd fmla="val 859" name="adj"/>
            </a:avLst>
          </a:prstGeom>
          <a:noFill/>
          <a:ln cap="flat" cmpd="sng" w="121625">
            <a:solidFill>
              <a:srgbClr val="8CC793"/>
            </a:solidFill>
            <a:prstDash val="solid"/>
            <a:round/>
            <a:headEnd len="sm" w="sm" type="none"/>
            <a:tailEnd len="sm" w="sm" type="none"/>
          </a:ln>
        </p:spPr>
        <p:txBody>
          <a:bodyPr anchorCtr="0" anchor="ctr" bIns="97300" lIns="486525" spcFirstLastPara="1" rIns="486525" wrap="square" tIns="97300">
            <a:noAutofit/>
          </a:bodyPr>
          <a:lstStyle/>
          <a:p>
            <a:pPr indent="0" lvl="0" marL="121629" rtl="0" algn="l">
              <a:spcBef>
                <a:spcPts val="0"/>
              </a:spcBef>
              <a:spcAft>
                <a:spcPts val="0"/>
              </a:spcAft>
              <a:buNone/>
            </a:pPr>
            <a:r>
              <a:rPr lang="de-AT" sz="3200"/>
              <a:t>Data sharing and transparency has been a priority for NIH and other major funders of biomedical science for over 25 years.</a:t>
            </a:r>
            <a:r>
              <a:rPr lang="de-AT" sz="3200">
                <a:extLst>
                  <a:ext uri="http://customooxmlschemas.google.com/">
                    <go:slidesCustomData xmlns:go="http://customooxmlschemas.google.com/" textRoundtripDataId="2"/>
                  </a:ext>
                </a:extLst>
              </a:rPr>
              <a:t> However, bibliometric analyses show that a minority of publications report how underlying data can be obtained</a:t>
            </a:r>
            <a:r>
              <a:rPr baseline="30000" lang="de-AT" sz="3200">
                <a:extLst>
                  <a:ext uri="http://customooxmlschemas.google.com/">
                    <go:slidesCustomData xmlns:go="http://customooxmlschemas.google.com/" textRoundtripDataId="3"/>
                  </a:ext>
                </a:extLst>
              </a:rPr>
              <a:t>1</a:t>
            </a:r>
            <a:r>
              <a:rPr lang="de-AT" sz="3200">
                <a:extLst>
                  <a:ext uri="http://customooxmlschemas.google.com/">
                    <go:slidesCustomData xmlns:go="http://customooxmlschemas.google.com/" textRoundtripDataId="4"/>
                  </a:ext>
                </a:extLst>
              </a:rPr>
              <a:t>. </a:t>
            </a:r>
            <a:br>
              <a:rPr lang="de-AT" sz="3200">
                <a:extLst>
                  <a:ext uri="http://customooxmlschemas.google.com/">
                    <go:slidesCustomData xmlns:go="http://customooxmlschemas.google.com/" textRoundtripDataId="4"/>
                  </a:ext>
                </a:extLst>
              </a:rPr>
            </a:br>
            <a:endParaRPr sz="3200">
              <a:extLst>
                <a:ext uri="http://customooxmlschemas.google.com/">
                  <go:slidesCustomData xmlns:go="http://customooxmlschemas.google.com/" textRoundtripDataId="5"/>
                </a:ext>
              </a:extLst>
            </a:endParaRPr>
          </a:p>
          <a:p>
            <a:pPr indent="0" lvl="0" marL="121629" rtl="0" algn="l">
              <a:spcBef>
                <a:spcPts val="0"/>
              </a:spcBef>
              <a:spcAft>
                <a:spcPts val="0"/>
              </a:spcAft>
              <a:buNone/>
            </a:pPr>
            <a:r>
              <a:rPr lang="de-AT" sz="3200">
                <a:extLst>
                  <a:ext uri="http://customooxmlschemas.google.com/">
                    <go:slidesCustomData xmlns:go="http://customooxmlschemas.google.com/" textRoundtripDataId="6"/>
                  </a:ext>
                </a:extLst>
              </a:rPr>
              <a:t>In this work we explore differences in data sharing reporting in PubMed Open Access publications across the ten largest funders of biomedical science in the world as well as within NIH. Results are presented here as well as on an online interactive dashbo</a:t>
            </a:r>
            <a:r>
              <a:rPr lang="de-AT" sz="3200"/>
              <a:t>ard that we intend to maintain and update.</a:t>
            </a:r>
            <a:endParaRPr sz="3200"/>
          </a:p>
        </p:txBody>
      </p:sp>
      <p:sp>
        <p:nvSpPr>
          <p:cNvPr id="43" name="Google Shape;43;p1"/>
          <p:cNvSpPr txBox="1"/>
          <p:nvPr/>
        </p:nvSpPr>
        <p:spPr>
          <a:xfrm>
            <a:off x="5451500" y="889425"/>
            <a:ext cx="19372200" cy="1857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1500"/>
              </a:spcAft>
              <a:buNone/>
            </a:pPr>
            <a:r>
              <a:rPr b="1" lang="de-AT" sz="7500">
                <a:solidFill>
                  <a:srgbClr val="38761D"/>
                </a:solidFill>
                <a:latin typeface="Raleway"/>
                <a:ea typeface="Raleway"/>
                <a:cs typeface="Raleway"/>
                <a:sym typeface="Raleway"/>
              </a:rPr>
              <a:t>Tracking Data Sharing in Publications from Major Funders</a:t>
            </a:r>
            <a:endParaRPr b="1" sz="7500">
              <a:solidFill>
                <a:srgbClr val="38761D"/>
              </a:solidFill>
              <a:latin typeface="Raleway"/>
              <a:ea typeface="Raleway"/>
              <a:cs typeface="Raleway"/>
              <a:sym typeface="Raleway"/>
            </a:endParaRPr>
          </a:p>
        </p:txBody>
      </p:sp>
      <p:sp>
        <p:nvSpPr>
          <p:cNvPr id="44" name="Google Shape;44;p1"/>
          <p:cNvSpPr txBox="1"/>
          <p:nvPr/>
        </p:nvSpPr>
        <p:spPr>
          <a:xfrm>
            <a:off x="50" y="3019838"/>
            <a:ext cx="30275100" cy="110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C9C64E"/>
              </a:buClr>
              <a:buSzPts val="3200"/>
              <a:buFont typeface="Arial"/>
              <a:buNone/>
            </a:pPr>
            <a:r>
              <a:rPr lang="de-AT" sz="5000">
                <a:solidFill>
                  <a:srgbClr val="616161"/>
                </a:solidFill>
              </a:rPr>
              <a:t>Christoph Li</a:t>
            </a:r>
            <a:r>
              <a:rPr baseline="30000" lang="de-AT" sz="5000">
                <a:solidFill>
                  <a:srgbClr val="616161"/>
                </a:solidFill>
              </a:rPr>
              <a:t>1</a:t>
            </a:r>
            <a:r>
              <a:rPr lang="de-AT" sz="5000">
                <a:solidFill>
                  <a:srgbClr val="616161"/>
                </a:solidFill>
              </a:rPr>
              <a:t>, Josh Lawrimore</a:t>
            </a:r>
            <a:r>
              <a:rPr baseline="30000" lang="de-AT" sz="5000">
                <a:solidFill>
                  <a:srgbClr val="616161"/>
                </a:solidFill>
              </a:rPr>
              <a:t>2</a:t>
            </a:r>
            <a:r>
              <a:rPr lang="de-AT" sz="5000">
                <a:solidFill>
                  <a:srgbClr val="616161"/>
                </a:solidFill>
              </a:rPr>
              <a:t>, Dustin Moraczewski</a:t>
            </a:r>
            <a:r>
              <a:rPr baseline="30000" lang="de-AT" sz="5000">
                <a:solidFill>
                  <a:srgbClr val="616161"/>
                </a:solidFill>
              </a:rPr>
              <a:t>1</a:t>
            </a:r>
            <a:r>
              <a:rPr lang="de-AT" sz="5000">
                <a:solidFill>
                  <a:srgbClr val="616161"/>
                </a:solidFill>
              </a:rPr>
              <a:t>, Adam Thomas</a:t>
            </a:r>
            <a:r>
              <a:rPr baseline="30000" lang="de-AT" sz="5000">
                <a:solidFill>
                  <a:srgbClr val="616161"/>
                </a:solidFill>
              </a:rPr>
              <a:t>1</a:t>
            </a:r>
            <a:endParaRPr baseline="30000" sz="5000">
              <a:solidFill>
                <a:srgbClr val="616161"/>
              </a:solidFill>
            </a:endParaRPr>
          </a:p>
        </p:txBody>
      </p:sp>
      <p:sp>
        <p:nvSpPr>
          <p:cNvPr id="45" name="Google Shape;45;p1"/>
          <p:cNvSpPr txBox="1"/>
          <p:nvPr/>
        </p:nvSpPr>
        <p:spPr>
          <a:xfrm>
            <a:off x="2288301" y="4081900"/>
            <a:ext cx="25698600" cy="16023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aseline="30000" lang="de-AT" sz="3500">
                <a:solidFill>
                  <a:srgbClr val="616161"/>
                </a:solidFill>
              </a:rPr>
              <a:t>1</a:t>
            </a:r>
            <a:r>
              <a:rPr lang="de-AT" sz="3500">
                <a:solidFill>
                  <a:srgbClr val="616161"/>
                </a:solidFill>
              </a:rPr>
              <a:t>Data Science &amp; Sharing Team, National Institute of Mental Health, </a:t>
            </a:r>
            <a:r>
              <a:rPr baseline="30000" lang="de-AT" sz="3500">
                <a:solidFill>
                  <a:srgbClr val="616161"/>
                </a:solidFill>
              </a:rPr>
              <a:t>2</a:t>
            </a:r>
            <a:r>
              <a:rPr lang="de-AT" sz="3500">
                <a:solidFill>
                  <a:srgbClr val="616161"/>
                </a:solidFill>
              </a:rPr>
              <a:t>Clinical Monitoring Research Program Directorate, Frederick National Laboratory for Cancer Research.</a:t>
            </a:r>
            <a:endParaRPr sz="3500">
              <a:solidFill>
                <a:srgbClr val="616161"/>
              </a:solidFill>
            </a:endParaRPr>
          </a:p>
        </p:txBody>
      </p:sp>
      <p:sp>
        <p:nvSpPr>
          <p:cNvPr id="46" name="Google Shape;46;p1"/>
          <p:cNvSpPr txBox="1"/>
          <p:nvPr/>
        </p:nvSpPr>
        <p:spPr>
          <a:xfrm>
            <a:off x="600376" y="6339350"/>
            <a:ext cx="6568500" cy="8511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8CC793"/>
                </a:solidFill>
                <a:latin typeface="Raleway"/>
                <a:ea typeface="Raleway"/>
                <a:cs typeface="Raleway"/>
                <a:sym typeface="Raleway"/>
                <a:extLst>
                  <a:ext uri="http://customooxmlschemas.google.com/">
                    <go:slidesCustomData xmlns:go="http://customooxmlschemas.google.com/" textRoundtripDataId="7"/>
                  </a:ext>
                </a:extLst>
              </a:rPr>
              <a:t>INTRODUCTION</a:t>
            </a:r>
            <a:endParaRPr b="1" sz="6384">
              <a:solidFill>
                <a:srgbClr val="8CC793"/>
              </a:solidFill>
              <a:latin typeface="Raleway"/>
              <a:ea typeface="Raleway"/>
              <a:cs typeface="Raleway"/>
              <a:sym typeface="Raleway"/>
            </a:endParaRPr>
          </a:p>
        </p:txBody>
      </p:sp>
      <p:sp>
        <p:nvSpPr>
          <p:cNvPr id="47" name="Google Shape;47;p1"/>
          <p:cNvSpPr txBox="1"/>
          <p:nvPr/>
        </p:nvSpPr>
        <p:spPr>
          <a:xfrm>
            <a:off x="10252875" y="32123238"/>
            <a:ext cx="5310000" cy="8511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69BA9F"/>
                </a:solidFill>
                <a:latin typeface="Raleway"/>
                <a:ea typeface="Raleway"/>
                <a:cs typeface="Raleway"/>
                <a:sym typeface="Raleway"/>
              </a:rPr>
              <a:t>DISCUSSION</a:t>
            </a:r>
            <a:endParaRPr b="1" sz="6384">
              <a:solidFill>
                <a:srgbClr val="69BA9F"/>
              </a:solidFill>
              <a:latin typeface="Raleway"/>
              <a:ea typeface="Raleway"/>
              <a:cs typeface="Raleway"/>
              <a:sym typeface="Raleway"/>
            </a:endParaRPr>
          </a:p>
        </p:txBody>
      </p:sp>
      <p:sp>
        <p:nvSpPr>
          <p:cNvPr id="48" name="Google Shape;48;p1"/>
          <p:cNvSpPr txBox="1"/>
          <p:nvPr/>
        </p:nvSpPr>
        <p:spPr>
          <a:xfrm>
            <a:off x="602456" y="32123256"/>
            <a:ext cx="5490900" cy="8511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799B5D"/>
                </a:solidFill>
                <a:latin typeface="Raleway"/>
                <a:ea typeface="Raleway"/>
                <a:cs typeface="Raleway"/>
                <a:sym typeface="Raleway"/>
              </a:rPr>
              <a:t>REFERENCES</a:t>
            </a:r>
            <a:endParaRPr b="1" sz="6384">
              <a:solidFill>
                <a:srgbClr val="799B5D"/>
              </a:solidFill>
              <a:latin typeface="Raleway"/>
              <a:ea typeface="Raleway"/>
              <a:cs typeface="Raleway"/>
              <a:sym typeface="Raleway"/>
            </a:endParaRPr>
          </a:p>
        </p:txBody>
      </p:sp>
      <p:sp>
        <p:nvSpPr>
          <p:cNvPr id="49" name="Google Shape;49;p1"/>
          <p:cNvSpPr txBox="1"/>
          <p:nvPr/>
        </p:nvSpPr>
        <p:spPr>
          <a:xfrm>
            <a:off x="10252884" y="6339338"/>
            <a:ext cx="5091600" cy="8511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84CD34"/>
                </a:solidFill>
                <a:latin typeface="Raleway"/>
                <a:ea typeface="Raleway"/>
                <a:cs typeface="Raleway"/>
                <a:sym typeface="Raleway"/>
                <a:extLst>
                  <a:ext uri="http://customooxmlschemas.google.com/">
                    <go:slidesCustomData xmlns:go="http://customooxmlschemas.google.com/" textRoundtripDataId="8"/>
                  </a:ext>
                </a:extLst>
              </a:rPr>
              <a:t>TAKEAWAYS</a:t>
            </a:r>
            <a:endParaRPr b="1" sz="6384">
              <a:solidFill>
                <a:srgbClr val="84CD34"/>
              </a:solidFill>
              <a:latin typeface="Raleway"/>
              <a:ea typeface="Raleway"/>
              <a:cs typeface="Raleway"/>
              <a:sym typeface="Raleway"/>
            </a:endParaRPr>
          </a:p>
        </p:txBody>
      </p:sp>
      <p:sp>
        <p:nvSpPr>
          <p:cNvPr id="50" name="Google Shape;50;p1"/>
          <p:cNvSpPr txBox="1"/>
          <p:nvPr/>
        </p:nvSpPr>
        <p:spPr>
          <a:xfrm>
            <a:off x="10252884" y="9406855"/>
            <a:ext cx="3829800" cy="8511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6EACA2"/>
                </a:solidFill>
                <a:latin typeface="Raleway"/>
                <a:ea typeface="Raleway"/>
                <a:cs typeface="Raleway"/>
                <a:sym typeface="Raleway"/>
              </a:rPr>
              <a:t>RESULTS</a:t>
            </a:r>
            <a:endParaRPr b="1" sz="6384">
              <a:solidFill>
                <a:srgbClr val="6EACA2"/>
              </a:solidFill>
              <a:latin typeface="Raleway"/>
              <a:ea typeface="Raleway"/>
              <a:cs typeface="Raleway"/>
              <a:sym typeface="Raleway"/>
            </a:endParaRPr>
          </a:p>
        </p:txBody>
      </p:sp>
      <p:pic>
        <p:nvPicPr>
          <p:cNvPr id="51" name="Google Shape;51;p1"/>
          <p:cNvPicPr preferRelativeResize="0"/>
          <p:nvPr/>
        </p:nvPicPr>
        <p:blipFill>
          <a:blip r:embed="rId4">
            <a:alphaModFix/>
          </a:blip>
          <a:stretch>
            <a:fillRect/>
          </a:stretch>
        </p:blipFill>
        <p:spPr>
          <a:xfrm>
            <a:off x="16198438" y="38106793"/>
            <a:ext cx="1938038" cy="1846559"/>
          </a:xfrm>
          <a:prstGeom prst="rect">
            <a:avLst/>
          </a:prstGeom>
          <a:noFill/>
          <a:ln>
            <a:noFill/>
          </a:ln>
        </p:spPr>
      </p:pic>
      <p:pic>
        <p:nvPicPr>
          <p:cNvPr id="52" name="Google Shape;52;p1"/>
          <p:cNvPicPr preferRelativeResize="0"/>
          <p:nvPr/>
        </p:nvPicPr>
        <p:blipFill>
          <a:blip r:embed="rId5">
            <a:alphaModFix/>
          </a:blip>
          <a:stretch>
            <a:fillRect/>
          </a:stretch>
        </p:blipFill>
        <p:spPr>
          <a:xfrm>
            <a:off x="11409231" y="38101386"/>
            <a:ext cx="2014538" cy="1857375"/>
          </a:xfrm>
          <a:prstGeom prst="rect">
            <a:avLst/>
          </a:prstGeom>
          <a:noFill/>
          <a:ln>
            <a:noFill/>
          </a:ln>
        </p:spPr>
      </p:pic>
      <p:grpSp>
        <p:nvGrpSpPr>
          <p:cNvPr id="53" name="Google Shape;53;p1"/>
          <p:cNvGrpSpPr/>
          <p:nvPr/>
        </p:nvGrpSpPr>
        <p:grpSpPr>
          <a:xfrm>
            <a:off x="20984476" y="23288693"/>
            <a:ext cx="8540492" cy="8330154"/>
            <a:chOff x="9049649" y="13577580"/>
            <a:chExt cx="7107600" cy="6932552"/>
          </a:xfrm>
        </p:grpSpPr>
        <p:pic>
          <p:nvPicPr>
            <p:cNvPr id="54" name="Google Shape;54;p1" title="confusion_matrix_is_open_data.png"/>
            <p:cNvPicPr preferRelativeResize="0"/>
            <p:nvPr/>
          </p:nvPicPr>
          <p:blipFill>
            <a:blip r:embed="rId6">
              <a:alphaModFix/>
            </a:blip>
            <a:stretch>
              <a:fillRect/>
            </a:stretch>
          </p:blipFill>
          <p:spPr>
            <a:xfrm>
              <a:off x="9049650" y="13577580"/>
              <a:ext cx="7107599" cy="6014389"/>
            </a:xfrm>
            <a:prstGeom prst="rect">
              <a:avLst/>
            </a:prstGeom>
            <a:noFill/>
            <a:ln>
              <a:noFill/>
            </a:ln>
          </p:spPr>
        </p:pic>
        <p:sp>
          <p:nvSpPr>
            <p:cNvPr id="55" name="Google Shape;55;p1"/>
            <p:cNvSpPr txBox="1"/>
            <p:nvPr/>
          </p:nvSpPr>
          <p:spPr>
            <a:xfrm>
              <a:off x="9049649" y="19596331"/>
              <a:ext cx="7107600" cy="913800"/>
            </a:xfrm>
            <a:prstGeom prst="rect">
              <a:avLst/>
            </a:prstGeom>
            <a:noFill/>
            <a:ln>
              <a:noFill/>
            </a:ln>
          </p:spPr>
          <p:txBody>
            <a:bodyPr anchorCtr="0" anchor="t" bIns="109875" lIns="109875" spcFirstLastPara="1" rIns="109875" wrap="square" tIns="109875">
              <a:noAutofit/>
            </a:bodyPr>
            <a:lstStyle/>
            <a:p>
              <a:pPr indent="0" lvl="0" marL="0" rtl="0" algn="l">
                <a:spcBef>
                  <a:spcPts val="0"/>
                </a:spcBef>
                <a:spcAft>
                  <a:spcPts val="0"/>
                </a:spcAft>
                <a:buNone/>
              </a:pPr>
              <a:r>
                <a:rPr b="1" lang="de-AT" sz="1922"/>
                <a:t>Open data confusion matrix; this study against Serghiou et al. 2021</a:t>
              </a:r>
              <a:endParaRPr b="1" sz="1922"/>
            </a:p>
            <a:p>
              <a:pPr indent="0" lvl="0" marL="0" rtl="0" algn="l">
                <a:spcBef>
                  <a:spcPts val="0"/>
                </a:spcBef>
                <a:spcAft>
                  <a:spcPts val="0"/>
                </a:spcAft>
                <a:buNone/>
              </a:pPr>
              <a:r>
                <a:rPr lang="de-AT" sz="1922"/>
                <a:t>For publications before 2021, our labelling showed high overlap with results from Serghiou et al. 2021</a:t>
              </a:r>
              <a:endParaRPr sz="1922"/>
            </a:p>
          </p:txBody>
        </p:sp>
      </p:grpSp>
      <p:sp>
        <p:nvSpPr>
          <p:cNvPr id="56" name="Google Shape;56;p1"/>
          <p:cNvSpPr/>
          <p:nvPr/>
        </p:nvSpPr>
        <p:spPr>
          <a:xfrm>
            <a:off x="23739975" y="32525350"/>
            <a:ext cx="6191400" cy="4833000"/>
          </a:xfrm>
          <a:prstGeom prst="roundRect">
            <a:avLst>
              <a:gd fmla="val 859" name="adj"/>
            </a:avLst>
          </a:prstGeom>
          <a:noFill/>
          <a:ln cap="flat" cmpd="sng" w="121625">
            <a:solidFill>
              <a:srgbClr val="83BCF0"/>
            </a:solidFill>
            <a:prstDash val="solid"/>
            <a:round/>
            <a:headEnd len="sm" w="sm" type="none"/>
            <a:tailEnd len="sm" w="sm" type="none"/>
          </a:ln>
        </p:spPr>
        <p:txBody>
          <a:bodyPr anchorCtr="0" anchor="ctr" bIns="97300" lIns="291875" spcFirstLastPara="1" rIns="486525" wrap="square" tIns="97300">
            <a:noAutofit/>
          </a:bodyPr>
          <a:lstStyle/>
          <a:p>
            <a:pPr indent="-440109" lvl="0" marL="486517" rtl="0" algn="l">
              <a:lnSpc>
                <a:spcPct val="115000"/>
              </a:lnSpc>
              <a:spcBef>
                <a:spcPts val="0"/>
              </a:spcBef>
              <a:spcAft>
                <a:spcPts val="0"/>
              </a:spcAft>
              <a:buSzPts val="3100"/>
              <a:buChar char="●"/>
            </a:pPr>
            <a:r>
              <a:rPr lang="de-AT" sz="3100"/>
              <a:t>Investigate why HHMI has a higher rate of data sharing.</a:t>
            </a:r>
            <a:endParaRPr sz="3100"/>
          </a:p>
          <a:p>
            <a:pPr indent="0" lvl="0" marL="486517" rtl="0" algn="l">
              <a:lnSpc>
                <a:spcPct val="115000"/>
              </a:lnSpc>
              <a:spcBef>
                <a:spcPts val="0"/>
              </a:spcBef>
              <a:spcAft>
                <a:spcPts val="0"/>
              </a:spcAft>
              <a:buNone/>
            </a:pPr>
            <a:r>
              <a:t/>
            </a:r>
            <a:endParaRPr sz="3100"/>
          </a:p>
          <a:p>
            <a:pPr indent="-440109" lvl="0" marL="486517" rtl="0" algn="l">
              <a:lnSpc>
                <a:spcPct val="115000"/>
              </a:lnSpc>
              <a:spcBef>
                <a:spcPts val="0"/>
              </a:spcBef>
              <a:spcAft>
                <a:spcPts val="0"/>
              </a:spcAft>
              <a:buSzPts val="3100"/>
              <a:buChar char="●"/>
            </a:pPr>
            <a:r>
              <a:rPr lang="de-AT" sz="3100"/>
              <a:t>Compare data sharing in publications from HHMI Janelia Research Campus and its extramural program.</a:t>
            </a:r>
            <a:endParaRPr sz="3100"/>
          </a:p>
        </p:txBody>
      </p:sp>
      <p:sp>
        <p:nvSpPr>
          <p:cNvPr id="57" name="Google Shape;57;p1"/>
          <p:cNvSpPr txBox="1"/>
          <p:nvPr/>
        </p:nvSpPr>
        <p:spPr>
          <a:xfrm>
            <a:off x="23960806" y="32111112"/>
            <a:ext cx="3564900" cy="8754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lnSpc>
                <a:spcPct val="90000"/>
              </a:lnSpc>
              <a:spcBef>
                <a:spcPts val="0"/>
              </a:spcBef>
              <a:spcAft>
                <a:spcPts val="0"/>
              </a:spcAft>
              <a:buNone/>
            </a:pPr>
            <a:r>
              <a:rPr b="1" lang="de-AT" sz="6384">
                <a:solidFill>
                  <a:srgbClr val="83BCF0"/>
                </a:solidFill>
                <a:latin typeface="Raleway"/>
                <a:ea typeface="Raleway"/>
                <a:cs typeface="Raleway"/>
                <a:sym typeface="Raleway"/>
              </a:rPr>
              <a:t>FUTURE</a:t>
            </a:r>
            <a:endParaRPr b="1" sz="6384">
              <a:solidFill>
                <a:srgbClr val="83BCF0"/>
              </a:solidFill>
              <a:latin typeface="Raleway"/>
              <a:ea typeface="Raleway"/>
              <a:cs typeface="Raleway"/>
              <a:sym typeface="Raleway"/>
            </a:endParaRPr>
          </a:p>
        </p:txBody>
      </p:sp>
      <p:sp>
        <p:nvSpPr>
          <p:cNvPr id="58" name="Google Shape;58;p1"/>
          <p:cNvSpPr/>
          <p:nvPr/>
        </p:nvSpPr>
        <p:spPr>
          <a:xfrm>
            <a:off x="19761884" y="22679459"/>
            <a:ext cx="1222800" cy="251400"/>
          </a:xfrm>
          <a:prstGeom prst="rect">
            <a:avLst/>
          </a:prstGeom>
          <a:solidFill>
            <a:srgbClr val="FFFFFF"/>
          </a:solidFill>
          <a:ln>
            <a:noFill/>
          </a:ln>
        </p:spPr>
        <p:txBody>
          <a:bodyPr anchorCtr="0" anchor="ctr" bIns="97300" lIns="97300" spcFirstLastPara="1" rIns="97300" wrap="square" tIns="97300">
            <a:noAutofit/>
          </a:bodyPr>
          <a:lstStyle/>
          <a:p>
            <a:pPr indent="0" lvl="0" marL="0" rtl="0" algn="ctr">
              <a:spcBef>
                <a:spcPts val="0"/>
              </a:spcBef>
              <a:spcAft>
                <a:spcPts val="0"/>
              </a:spcAft>
              <a:buNone/>
            </a:pPr>
            <a:r>
              <a:t/>
            </a:r>
            <a:endParaRPr sz="1489"/>
          </a:p>
        </p:txBody>
      </p:sp>
      <p:grpSp>
        <p:nvGrpSpPr>
          <p:cNvPr id="59" name="Google Shape;59;p1"/>
          <p:cNvGrpSpPr/>
          <p:nvPr/>
        </p:nvGrpSpPr>
        <p:grpSpPr>
          <a:xfrm>
            <a:off x="11768468" y="10276446"/>
            <a:ext cx="16430769" cy="6858773"/>
            <a:chOff x="9422041" y="18477484"/>
            <a:chExt cx="14057810" cy="5868720"/>
          </a:xfrm>
        </p:grpSpPr>
        <p:grpSp>
          <p:nvGrpSpPr>
            <p:cNvPr id="60" name="Google Shape;60;p1"/>
            <p:cNvGrpSpPr/>
            <p:nvPr/>
          </p:nvGrpSpPr>
          <p:grpSpPr>
            <a:xfrm>
              <a:off x="9492435" y="18644460"/>
              <a:ext cx="13987417" cy="5701744"/>
              <a:chOff x="9792600" y="20440150"/>
              <a:chExt cx="13143598" cy="5357775"/>
            </a:xfrm>
          </p:grpSpPr>
          <p:pic>
            <p:nvPicPr>
              <p:cNvPr id="61" name="Google Shape;61;p1"/>
              <p:cNvPicPr preferRelativeResize="0"/>
              <p:nvPr/>
            </p:nvPicPr>
            <p:blipFill rotWithShape="1">
              <a:blip r:embed="rId7">
                <a:alphaModFix/>
              </a:blip>
              <a:srcRect b="2450" l="1803" r="3265" t="13643"/>
              <a:stretch/>
            </p:blipFill>
            <p:spPr>
              <a:xfrm>
                <a:off x="9792600" y="20440150"/>
                <a:ext cx="13143598" cy="4157475"/>
              </a:xfrm>
              <a:prstGeom prst="rect">
                <a:avLst/>
              </a:prstGeom>
              <a:noFill/>
              <a:ln>
                <a:noFill/>
              </a:ln>
            </p:spPr>
          </p:pic>
          <p:sp>
            <p:nvSpPr>
              <p:cNvPr id="62" name="Google Shape;62;p1"/>
              <p:cNvSpPr txBox="1"/>
              <p:nvPr/>
            </p:nvSpPr>
            <p:spPr>
              <a:xfrm>
                <a:off x="9792600" y="24597625"/>
                <a:ext cx="11396100" cy="1200300"/>
              </a:xfrm>
              <a:prstGeom prst="rect">
                <a:avLst/>
              </a:prstGeom>
              <a:noFill/>
              <a:ln>
                <a:noFill/>
              </a:ln>
            </p:spPr>
            <p:txBody>
              <a:bodyPr anchorCtr="0" anchor="t" bIns="113700" lIns="113700" spcFirstLastPara="1" rIns="113700" wrap="square" tIns="113700">
                <a:noAutofit/>
              </a:bodyPr>
              <a:lstStyle/>
              <a:p>
                <a:pPr indent="0" lvl="0" marL="0" rtl="0" algn="l">
                  <a:spcBef>
                    <a:spcPts val="0"/>
                  </a:spcBef>
                  <a:spcAft>
                    <a:spcPts val="0"/>
                  </a:spcAft>
                  <a:buNone/>
                </a:pPr>
                <a:r>
                  <a:rPr b="1" lang="de-AT" sz="1989"/>
                  <a:t>Total number of publications over time among the top ten biomedical funders, 2005-2025</a:t>
                </a:r>
                <a:endParaRPr b="1" sz="1989"/>
              </a:p>
              <a:p>
                <a:pPr indent="0" lvl="0" marL="0" rtl="0" algn="l">
                  <a:spcBef>
                    <a:spcPts val="0"/>
                  </a:spcBef>
                  <a:spcAft>
                    <a:spcPts val="0"/>
                  </a:spcAft>
                  <a:buNone/>
                </a:pPr>
                <a:r>
                  <a:rPr lang="de-AT" sz="1989"/>
                  <a:t>Each line represents the number of publications in the PubMed Open Access subset from a given funder.</a:t>
                </a:r>
                <a:endParaRPr sz="1989"/>
              </a:p>
            </p:txBody>
          </p:sp>
        </p:grpSp>
        <p:sp>
          <p:nvSpPr>
            <p:cNvPr id="63" name="Google Shape;63;p1"/>
            <p:cNvSpPr/>
            <p:nvPr/>
          </p:nvSpPr>
          <p:spPr>
            <a:xfrm>
              <a:off x="14372957" y="22867820"/>
              <a:ext cx="1222800" cy="251400"/>
            </a:xfrm>
            <a:prstGeom prst="rect">
              <a:avLst/>
            </a:prstGeom>
            <a:solidFill>
              <a:srgbClr val="FFFFFF"/>
            </a:solidFill>
            <a:ln>
              <a:noFill/>
            </a:ln>
          </p:spPr>
          <p:txBody>
            <a:bodyPr anchorCtr="0" anchor="ctr" bIns="113700" lIns="113700" spcFirstLastPara="1" rIns="113700" wrap="square" tIns="113700">
              <a:noAutofit/>
            </a:bodyPr>
            <a:lstStyle/>
            <a:p>
              <a:pPr indent="0" lvl="0" marL="0" rtl="0" algn="ctr">
                <a:spcBef>
                  <a:spcPts val="0"/>
                </a:spcBef>
                <a:spcAft>
                  <a:spcPts val="0"/>
                </a:spcAft>
                <a:buNone/>
              </a:pPr>
              <a:r>
                <a:rPr lang="de-AT" sz="1741">
                  <a:solidFill>
                    <a:srgbClr val="999999"/>
                  </a:solidFill>
                </a:rPr>
                <a:t>Year</a:t>
              </a:r>
              <a:endParaRPr sz="1741"/>
            </a:p>
          </p:txBody>
        </p:sp>
        <p:sp>
          <p:nvSpPr>
            <p:cNvPr id="64" name="Google Shape;64;p1"/>
            <p:cNvSpPr/>
            <p:nvPr/>
          </p:nvSpPr>
          <p:spPr>
            <a:xfrm rot="-5400000">
              <a:off x="8893741" y="20438060"/>
              <a:ext cx="1309200" cy="252600"/>
            </a:xfrm>
            <a:prstGeom prst="rect">
              <a:avLst/>
            </a:prstGeom>
            <a:solidFill>
              <a:srgbClr val="FFFFFF"/>
            </a:solidFill>
            <a:ln>
              <a:noFill/>
            </a:ln>
          </p:spPr>
          <p:txBody>
            <a:bodyPr anchorCtr="0" anchor="ctr" bIns="113700" lIns="113700" spcFirstLastPara="1" rIns="113700" wrap="square" tIns="113700">
              <a:noAutofit/>
            </a:bodyPr>
            <a:lstStyle/>
            <a:p>
              <a:pPr indent="0" lvl="0" marL="0" rtl="0" algn="ctr">
                <a:spcBef>
                  <a:spcPts val="0"/>
                </a:spcBef>
                <a:spcAft>
                  <a:spcPts val="0"/>
                </a:spcAft>
                <a:buNone/>
              </a:pPr>
              <a:r>
                <a:rPr lang="de-AT" sz="1741">
                  <a:solidFill>
                    <a:srgbClr val="999999"/>
                  </a:solidFill>
                </a:rPr>
                <a:t>Count</a:t>
              </a:r>
              <a:endParaRPr sz="1741">
                <a:solidFill>
                  <a:srgbClr val="999999"/>
                </a:solidFill>
              </a:endParaRPr>
            </a:p>
          </p:txBody>
        </p:sp>
        <p:sp>
          <p:nvSpPr>
            <p:cNvPr id="65" name="Google Shape;65;p1"/>
            <p:cNvSpPr/>
            <p:nvPr/>
          </p:nvSpPr>
          <p:spPr>
            <a:xfrm>
              <a:off x="20140960" y="18477484"/>
              <a:ext cx="2909700" cy="337200"/>
            </a:xfrm>
            <a:prstGeom prst="rect">
              <a:avLst/>
            </a:prstGeom>
            <a:solidFill>
              <a:srgbClr val="FFFFFF"/>
            </a:solidFill>
            <a:ln>
              <a:noFill/>
            </a:ln>
          </p:spPr>
          <p:txBody>
            <a:bodyPr anchorCtr="0" anchor="ctr" bIns="113700" lIns="113700" spcFirstLastPara="1" rIns="113700" wrap="square" tIns="113700">
              <a:noAutofit/>
            </a:bodyPr>
            <a:lstStyle/>
            <a:p>
              <a:pPr indent="0" lvl="0" marL="0" rtl="0" algn="ctr">
                <a:spcBef>
                  <a:spcPts val="0"/>
                </a:spcBef>
                <a:spcAft>
                  <a:spcPts val="0"/>
                </a:spcAft>
                <a:buNone/>
              </a:pPr>
              <a:r>
                <a:rPr lang="de-AT" sz="2238" u="sng"/>
                <a:t>Funder</a:t>
              </a:r>
              <a:endParaRPr sz="2238" u="sng"/>
            </a:p>
          </p:txBody>
        </p:sp>
      </p:grpSp>
      <p:grpSp>
        <p:nvGrpSpPr>
          <p:cNvPr id="66" name="Google Shape;66;p1"/>
          <p:cNvGrpSpPr/>
          <p:nvPr/>
        </p:nvGrpSpPr>
        <p:grpSpPr>
          <a:xfrm>
            <a:off x="11729821" y="16654096"/>
            <a:ext cx="16508049" cy="6858864"/>
            <a:chOff x="9461095" y="24344238"/>
            <a:chExt cx="14017194" cy="5823949"/>
          </a:xfrm>
        </p:grpSpPr>
        <p:pic>
          <p:nvPicPr>
            <p:cNvPr id="67" name="Google Shape;67;p1"/>
            <p:cNvPicPr preferRelativeResize="0"/>
            <p:nvPr/>
          </p:nvPicPr>
          <p:blipFill rotWithShape="1">
            <a:blip r:embed="rId8">
              <a:alphaModFix/>
            </a:blip>
            <a:srcRect b="4689" l="1059" r="1730" t="13032"/>
            <a:stretch/>
          </p:blipFill>
          <p:spPr>
            <a:xfrm>
              <a:off x="9533468" y="24466719"/>
              <a:ext cx="13902838" cy="4424066"/>
            </a:xfrm>
            <a:prstGeom prst="rect">
              <a:avLst/>
            </a:prstGeom>
            <a:noFill/>
            <a:ln>
              <a:noFill/>
            </a:ln>
          </p:spPr>
        </p:pic>
        <p:sp>
          <p:nvSpPr>
            <p:cNvPr id="68" name="Google Shape;68;p1"/>
            <p:cNvSpPr txBox="1"/>
            <p:nvPr/>
          </p:nvSpPr>
          <p:spPr>
            <a:xfrm>
              <a:off x="9491688" y="28890787"/>
              <a:ext cx="13986600" cy="1277400"/>
            </a:xfrm>
            <a:prstGeom prst="rect">
              <a:avLst/>
            </a:prstGeom>
            <a:noFill/>
            <a:ln>
              <a:noFill/>
            </a:ln>
          </p:spPr>
          <p:txBody>
            <a:bodyPr anchorCtr="0" anchor="t" bIns="114575" lIns="114575" spcFirstLastPara="1" rIns="114575" wrap="square" tIns="114575">
              <a:noAutofit/>
            </a:bodyPr>
            <a:lstStyle/>
            <a:p>
              <a:pPr indent="0" lvl="0" marL="0" rtl="0" algn="l">
                <a:spcBef>
                  <a:spcPts val="0"/>
                </a:spcBef>
                <a:spcAft>
                  <a:spcPts val="0"/>
                </a:spcAft>
                <a:buNone/>
              </a:pPr>
              <a:r>
                <a:rPr b="1" lang="de-AT" sz="2005"/>
                <a:t>Data sharing rates over time among the top ten biomedical funders, 2005-2025</a:t>
              </a:r>
              <a:endParaRPr b="1" sz="2005"/>
            </a:p>
            <a:p>
              <a:pPr indent="0" lvl="0" marL="0" rtl="0" algn="l">
                <a:spcBef>
                  <a:spcPts val="0"/>
                </a:spcBef>
                <a:spcAft>
                  <a:spcPts val="0"/>
                </a:spcAft>
                <a:buNone/>
              </a:pPr>
              <a:r>
                <a:rPr lang="de-AT" sz="2005"/>
                <a:t>Each line represents the percentage of publications in the PubMed Open Access subset from a given funder in which information regarding how underlying data can be accessed was detected.</a:t>
              </a:r>
              <a:endParaRPr sz="2005"/>
            </a:p>
          </p:txBody>
        </p:sp>
        <p:sp>
          <p:nvSpPr>
            <p:cNvPr id="69" name="Google Shape;69;p1"/>
            <p:cNvSpPr/>
            <p:nvPr/>
          </p:nvSpPr>
          <p:spPr>
            <a:xfrm>
              <a:off x="14372957" y="28686661"/>
              <a:ext cx="1222800" cy="251400"/>
            </a:xfrm>
            <a:prstGeom prst="rect">
              <a:avLst/>
            </a:prstGeom>
            <a:solidFill>
              <a:srgbClr val="FFFFFF"/>
            </a:solidFill>
            <a:ln>
              <a:noFill/>
            </a:ln>
          </p:spPr>
          <p:txBody>
            <a:bodyPr anchorCtr="0" anchor="ctr" bIns="114575" lIns="114575" spcFirstLastPara="1" rIns="114575" wrap="square" tIns="114575">
              <a:noAutofit/>
            </a:bodyPr>
            <a:lstStyle/>
            <a:p>
              <a:pPr indent="0" lvl="0" marL="0" rtl="0" algn="ctr">
                <a:spcBef>
                  <a:spcPts val="0"/>
                </a:spcBef>
                <a:spcAft>
                  <a:spcPts val="0"/>
                </a:spcAft>
                <a:buNone/>
              </a:pPr>
              <a:r>
                <a:rPr lang="de-AT" sz="1754">
                  <a:solidFill>
                    <a:srgbClr val="999999"/>
                  </a:solidFill>
                </a:rPr>
                <a:t>Year</a:t>
              </a:r>
              <a:endParaRPr sz="1754">
                <a:solidFill>
                  <a:srgbClr val="999999"/>
                </a:solidFill>
              </a:endParaRPr>
            </a:p>
          </p:txBody>
        </p:sp>
        <p:sp>
          <p:nvSpPr>
            <p:cNvPr id="70" name="Google Shape;70;p1"/>
            <p:cNvSpPr/>
            <p:nvPr/>
          </p:nvSpPr>
          <p:spPr>
            <a:xfrm rot="-5400000">
              <a:off x="8764045" y="26326113"/>
              <a:ext cx="1684200" cy="290100"/>
            </a:xfrm>
            <a:prstGeom prst="rect">
              <a:avLst/>
            </a:prstGeom>
            <a:solidFill>
              <a:srgbClr val="FFFFFF"/>
            </a:solidFill>
            <a:ln>
              <a:noFill/>
            </a:ln>
          </p:spPr>
          <p:txBody>
            <a:bodyPr anchorCtr="0" anchor="ctr" bIns="114575" lIns="114575" spcFirstLastPara="1" rIns="114575" wrap="square" tIns="114575">
              <a:noAutofit/>
            </a:bodyPr>
            <a:lstStyle/>
            <a:p>
              <a:pPr indent="0" lvl="0" marL="0" rtl="0" algn="ctr">
                <a:spcBef>
                  <a:spcPts val="0"/>
                </a:spcBef>
                <a:spcAft>
                  <a:spcPts val="0"/>
                </a:spcAft>
                <a:buNone/>
              </a:pPr>
              <a:r>
                <a:rPr lang="de-AT" sz="1754">
                  <a:solidFill>
                    <a:srgbClr val="999999"/>
                  </a:solidFill>
                </a:rPr>
                <a:t>Data Sharing (%)</a:t>
              </a:r>
              <a:endParaRPr sz="1754"/>
            </a:p>
          </p:txBody>
        </p:sp>
        <p:sp>
          <p:nvSpPr>
            <p:cNvPr id="71" name="Google Shape;71;p1"/>
            <p:cNvSpPr/>
            <p:nvPr/>
          </p:nvSpPr>
          <p:spPr>
            <a:xfrm>
              <a:off x="20140960" y="24344238"/>
              <a:ext cx="2909700" cy="337200"/>
            </a:xfrm>
            <a:prstGeom prst="rect">
              <a:avLst/>
            </a:prstGeom>
            <a:solidFill>
              <a:srgbClr val="FFFFFF"/>
            </a:solidFill>
            <a:ln>
              <a:noFill/>
            </a:ln>
          </p:spPr>
          <p:txBody>
            <a:bodyPr anchorCtr="0" anchor="ctr" bIns="114575" lIns="114575" spcFirstLastPara="1" rIns="114575" wrap="square" tIns="114575">
              <a:noAutofit/>
            </a:bodyPr>
            <a:lstStyle/>
            <a:p>
              <a:pPr indent="0" lvl="0" marL="0" rtl="0" algn="ctr">
                <a:spcBef>
                  <a:spcPts val="0"/>
                </a:spcBef>
                <a:spcAft>
                  <a:spcPts val="0"/>
                </a:spcAft>
                <a:buNone/>
              </a:pPr>
              <a:r>
                <a:rPr lang="de-AT" sz="2255" u="sng"/>
                <a:t>Funder</a:t>
              </a:r>
              <a:endParaRPr sz="2255" u="sng"/>
            </a:p>
          </p:txBody>
        </p:sp>
      </p:grpSp>
      <p:sp>
        <p:nvSpPr>
          <p:cNvPr id="72" name="Google Shape;72;p1"/>
          <p:cNvSpPr/>
          <p:nvPr/>
        </p:nvSpPr>
        <p:spPr>
          <a:xfrm>
            <a:off x="171200" y="39289250"/>
            <a:ext cx="9237000" cy="270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Inter"/>
              <a:ea typeface="Inter"/>
              <a:cs typeface="Inter"/>
              <a:sym typeface="Inter"/>
            </a:endParaRPr>
          </a:p>
          <a:p>
            <a:pPr indent="0" lvl="0" marL="0" rtl="0" algn="ctr">
              <a:spcBef>
                <a:spcPts val="0"/>
              </a:spcBef>
              <a:spcAft>
                <a:spcPts val="0"/>
              </a:spcAft>
              <a:buNone/>
            </a:pPr>
            <a:r>
              <a:t/>
            </a:r>
            <a:endParaRPr/>
          </a:p>
        </p:txBody>
      </p:sp>
      <p:grpSp>
        <p:nvGrpSpPr>
          <p:cNvPr id="73" name="Google Shape;73;p1"/>
          <p:cNvGrpSpPr/>
          <p:nvPr/>
        </p:nvGrpSpPr>
        <p:grpSpPr>
          <a:xfrm>
            <a:off x="10630545" y="23512940"/>
            <a:ext cx="10066722" cy="8106279"/>
            <a:chOff x="16281500" y="13579750"/>
            <a:chExt cx="7960400" cy="6410153"/>
          </a:xfrm>
        </p:grpSpPr>
        <p:grpSp>
          <p:nvGrpSpPr>
            <p:cNvPr id="74" name="Google Shape;74;p1"/>
            <p:cNvGrpSpPr/>
            <p:nvPr/>
          </p:nvGrpSpPr>
          <p:grpSpPr>
            <a:xfrm>
              <a:off x="16281500" y="13579750"/>
              <a:ext cx="7960400" cy="5061401"/>
              <a:chOff x="8917900" y="13524875"/>
              <a:chExt cx="7960400" cy="5061401"/>
            </a:xfrm>
          </p:grpSpPr>
          <p:pic>
            <p:nvPicPr>
              <p:cNvPr id="75" name="Google Shape;75;p1"/>
              <p:cNvPicPr preferRelativeResize="0"/>
              <p:nvPr/>
            </p:nvPicPr>
            <p:blipFill rotWithShape="1">
              <a:blip r:embed="rId9">
                <a:alphaModFix/>
              </a:blip>
              <a:srcRect b="4451" l="1767" r="23010" t="7582"/>
              <a:stretch/>
            </p:blipFill>
            <p:spPr>
              <a:xfrm>
                <a:off x="8917900" y="13524875"/>
                <a:ext cx="7960400" cy="5061401"/>
              </a:xfrm>
              <a:prstGeom prst="rect">
                <a:avLst/>
              </a:prstGeom>
              <a:noFill/>
              <a:ln>
                <a:noFill/>
              </a:ln>
            </p:spPr>
          </p:pic>
          <p:pic>
            <p:nvPicPr>
              <p:cNvPr id="76" name="Google Shape;76;p1"/>
              <p:cNvPicPr preferRelativeResize="0"/>
              <p:nvPr/>
            </p:nvPicPr>
            <p:blipFill rotWithShape="1">
              <a:blip r:embed="rId9">
                <a:alphaModFix/>
              </a:blip>
              <a:srcRect b="75899" l="76695" r="1500" t="7582"/>
              <a:stretch/>
            </p:blipFill>
            <p:spPr>
              <a:xfrm>
                <a:off x="10192225" y="13901975"/>
                <a:ext cx="2307523" cy="950449"/>
              </a:xfrm>
              <a:prstGeom prst="rect">
                <a:avLst/>
              </a:prstGeom>
              <a:noFill/>
              <a:ln>
                <a:noFill/>
              </a:ln>
            </p:spPr>
          </p:pic>
        </p:grpSp>
        <p:sp>
          <p:nvSpPr>
            <p:cNvPr id="77" name="Google Shape;77;p1"/>
            <p:cNvSpPr txBox="1"/>
            <p:nvPr/>
          </p:nvSpPr>
          <p:spPr>
            <a:xfrm>
              <a:off x="16281512" y="18630903"/>
              <a:ext cx="7889400" cy="1359000"/>
            </a:xfrm>
            <a:prstGeom prst="rect">
              <a:avLst/>
            </a:prstGeom>
            <a:noFill/>
            <a:ln>
              <a:noFill/>
            </a:ln>
          </p:spPr>
          <p:txBody>
            <a:bodyPr anchorCtr="0" anchor="t" bIns="115600" lIns="115600" spcFirstLastPara="1" rIns="115600" wrap="square" tIns="115600">
              <a:noAutofit/>
            </a:bodyPr>
            <a:lstStyle/>
            <a:p>
              <a:pPr indent="0" lvl="0" marL="0" rtl="0" algn="l">
                <a:spcBef>
                  <a:spcPts val="0"/>
                </a:spcBef>
                <a:spcAft>
                  <a:spcPts val="0"/>
                </a:spcAft>
                <a:buNone/>
              </a:pPr>
              <a:r>
                <a:rPr b="1" lang="de-AT" sz="2023"/>
                <a:t>Trends in data sharing among NIH intramural and extramural publications, 2018–2024</a:t>
              </a:r>
              <a:endParaRPr b="1" sz="2023"/>
            </a:p>
            <a:p>
              <a:pPr indent="0" lvl="0" marL="0" rtl="0" algn="l">
                <a:spcBef>
                  <a:spcPts val="0"/>
                </a:spcBef>
                <a:spcAft>
                  <a:spcPts val="0"/>
                </a:spcAft>
                <a:buNone/>
              </a:pPr>
              <a:r>
                <a:rPr lang="de-AT" sz="2023"/>
                <a:t>PMC OA publications listed in annual reports from NIH intramural groups showed 10-20% higher rates of data sharing reporting than other PMC OA publications that acknowledged (extramural) NIH funding.</a:t>
              </a:r>
              <a:endParaRPr sz="2023"/>
            </a:p>
          </p:txBody>
        </p:sp>
      </p:grpSp>
      <p:sp>
        <p:nvSpPr>
          <p:cNvPr id="78" name="Google Shape;78;p1"/>
          <p:cNvSpPr txBox="1"/>
          <p:nvPr/>
        </p:nvSpPr>
        <p:spPr>
          <a:xfrm>
            <a:off x="4605450" y="40722861"/>
            <a:ext cx="21076800" cy="232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de-AT" sz="2200">
                <a:solidFill>
                  <a:schemeClr val="dk1"/>
                </a:solidFill>
                <a:latin typeface="Inter Medium"/>
                <a:ea typeface="Inter Medium"/>
                <a:cs typeface="Inter Medium"/>
                <a:sym typeface="Inter Medium"/>
              </a:rPr>
              <a:t>This project was funded by the Intramural Research Program of the NIMH, grant numbers ZICMH002960. This project has been funded in whole or in part with federal funds from the National Cancer Institute, National Institutes of Health, under Contract No. 75N91019D00024. The content of this publication does not necessarily reflect the views of policies of the Department of Health and Human Services, nor does mention of trade names, commercial products, or organizations imply endorsement by the U.S. Government</a:t>
            </a:r>
            <a:r>
              <a:rPr lang="de-AT" sz="2000">
                <a:solidFill>
                  <a:schemeClr val="dk1"/>
                </a:solidFill>
                <a:latin typeface="Inter"/>
                <a:ea typeface="Inter"/>
                <a:cs typeface="Inter"/>
                <a:sym typeface="Inter"/>
              </a:rPr>
              <a:t>.</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2025-11-06T10:57:18Z</dcterms:created>
  <dc:creator>evan.hancock</dc:creator>
</cp:coreProperties>
</file>